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media/media2.mp4" ContentType="video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of 5: Andrew. You open the deck (title), then slides 2 (Hook) and 3 (Why a book). About 2 minutes for your three slides. Hand over to Edward for Sleeve 1. Title slide: 'The Quadrant Strategy' in the Baloo 2 display treatment (approved 23 Oct); both videos on it (illustration with rotating quadrant wheel, chart card) autoplay and loop in PowerPoint slideshow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of 5: Andrew (slides 2-3). Hook: target about 50 seconds. Five regimes, one line each; land the closing line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1 of 5: Andrew (last of your pair). Target about 50 seconds: correlations -0.09 to +0.23 are the point. Hand over to Edward.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 of 5: Edward (slides 4-5). E1: target about 50 seconds. The costs line matters: 10 bps on every weight change. Since-2024 Sharpe 0.06 is the disclosed flaw.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2 of 5: Edward (last of your pair). Wheel: about 50 seconds. The regime wheel is the kill story: -60.7% in 2022 vs -32.0% always-on. Hand over to Wielly.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 of 5: Wielly (slides 6-7). IDX: about 50 seconds. Selection is the alpha; gates are insurance. Gates today: coal OFF, nickel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3 of 5: Wielly (last of your pair). Dip: about 50 seconds. No stop loss by design; the 200-day filter is the defence. Hand over to Michael.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4 of 5: Michael (slides 8-9). Portfolio: about 50 seconds. Book Sharpe 1.54 against sleeves 0.22 to 1.73 and the SPX at 0.84 with a -24.8% drawdown; correlations near zero, VT overlay kept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4 of 5: Michael (last of your pair). Live plan: about 50 seconds. Discipline before performance; the window grades discipline, not luck. Hand over to Victoria.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5 of 5: Victoria (slides 10-11). Limitations: about 50 seconds. State them plainly; do not apologise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5 of 5: Victoria (last of your pair). Kill criteria: about 50 seconds, then hand to the group close on slide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 close: all five speakers, one takeaway each, about 40 seconds total. Andrew: the hook, answered. Edward: Sleeve 1. Wielly: Sleeves 3 and 4. Michael: the book in numbers. Victoria: the kill discipline. End on the verdict strip, then Q&amp;A. Appendix A1-A9 is backup for Q&amp;A, not presented.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2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Baloo 2"/>
              </a:rPr>
              <a:t>QF5210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85632" y="274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Baloo 2"/>
              </a:rPr>
              <a:t>GROUP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99248" y="1097280"/>
            <a:ext cx="4050791" cy="5065776"/>
          </a:xfrm>
          <a:prstGeom prst="rect">
            <a:avLst/>
          </a:prstGeom>
          <a:solidFill>
            <a:srgbClr val="EAE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llustration_loop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35240" y="1024128"/>
            <a:ext cx="4050791" cy="50657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35240" y="1024128"/>
            <a:ext cx="4050791" cy="5065776"/>
          </a:xfrm>
          <a:prstGeom prst="rect">
            <a:avLst/>
          </a:prstGeom>
          <a:noFill/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1133856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100" b="1" i="0" spc="900">
                <a:solidFill>
                  <a:srgbClr val="1F3864"/>
                </a:solidFill>
                <a:latin typeface="Baloo 2"/>
              </a:rPr>
              <a:t>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70866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0" b="1" i="0">
                <a:solidFill>
                  <a:srgbClr val="1F3864"/>
                </a:solidFill>
                <a:latin typeface="Baloo 2"/>
              </a:rPr>
              <a:t>Quadrant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52928"/>
            <a:ext cx="70866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200" b="1" i="0">
                <a:solidFill>
                  <a:srgbClr val="C08A1E"/>
                </a:solidFill>
                <a:latin typeface="Baloo 2"/>
              </a:rPr>
              <a:t>Strategy</a:t>
            </a:r>
            <a:r>
              <a:rPr sz="9200" b="1" i="0">
                <a:solidFill>
                  <a:srgbClr val="C0392B"/>
                </a:solidFill>
                <a:latin typeface="Baloo 2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4315968"/>
            <a:ext cx="6035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Four Market Structures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4645152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404040"/>
                </a:solidFill>
                <a:latin typeface="Calibri"/>
              </a:rPr>
              <a:t>One book, four engines — each harvesting a different named premium.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4974336"/>
            <a:ext cx="6035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1.54 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Sharpe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  ·   </a:t>
            </a:r>
            <a:r>
              <a:rPr sz="1300" b="1" i="0">
                <a:solidFill>
                  <a:srgbClr val="1F3864"/>
                </a:solidFill>
                <a:latin typeface="Calibri"/>
              </a:rPr>
              <a:t>15.4% 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CAGR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  ·   </a:t>
            </a:r>
            <a:r>
              <a:rPr sz="1300" b="1" i="0">
                <a:solidFill>
                  <a:srgbClr val="1F3864"/>
                </a:solidFill>
                <a:latin typeface="Calibri"/>
              </a:rPr>
              <a:t>−8.1% 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Max DD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   ·   </a:t>
            </a:r>
            <a:r>
              <a:rPr sz="1300" b="1" i="0">
                <a:solidFill>
                  <a:srgbClr val="1F3864"/>
                </a:solidFill>
                <a:latin typeface="Calibri"/>
              </a:rPr>
              <a:t>+14.1% </a:t>
            </a:r>
            <a:r>
              <a:rPr sz="1200" b="0" i="0">
                <a:solidFill>
                  <a:srgbClr val="595959"/>
                </a:solidFill>
                <a:latin typeface="Calibri"/>
              </a:rPr>
              <a:t>in 2022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431536"/>
            <a:ext cx="6675120" cy="932688"/>
          </a:xfrm>
          <a:prstGeom prst="roundRect">
            <a:avLst>
              <a:gd name="adj" fmla="val 10000"/>
            </a:avLst>
          </a:prstGeom>
          <a:solidFill>
            <a:srgbClr val="EAE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7" y="5358384"/>
            <a:ext cx="667512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chart_loop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0080" y="5436108"/>
            <a:ext cx="2331720" cy="7863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154680" y="5504688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50" b="1" i="0">
                <a:solidFill>
                  <a:srgbClr val="1F3864"/>
                </a:solidFill>
                <a:latin typeface="Calibri"/>
              </a:rPr>
              <a:t>The book, animated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Calibri"/>
              </a:rPr>
              <a:t>Equity curve, Apr 2021 — Oct 2026, net of costs.  </a:t>
            </a:r>
            <a:r>
              <a:rPr sz="950" b="1" i="0">
                <a:solidFill>
                  <a:srgbClr val="1F3864"/>
                </a:solidFill>
                <a:latin typeface="Calibri"/>
              </a:rPr>
              <a:t>+121.0%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" y="6455664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 i="0">
                <a:solidFill>
                  <a:srgbClr val="404040"/>
                </a:solidFill>
                <a:latin typeface="Calibri"/>
              </a:rPr>
              <a:t>Andrew Wiraatmaja · Edward Sujono · Michael Japardi · Victoria Chan · Wielly Halim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6455664"/>
            <a:ext cx="4050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Calibri"/>
              </a:rPr>
              <a:t>QF5210 · Financial Time Series · Oct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3" fill="hold" display="0" repeatCount="indefinite">
                  <p:stCondLst>
                    <p:cond delay="0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THE HOOK · WHY THIS BOOK,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Tariffs, a yen unwind, a crypto winter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18320" y="182880"/>
            <a:ext cx="2267712" cy="347472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1F3864"/>
                </a:solidFill>
                <a:latin typeface="Calibri"/>
              </a:rPr>
              <a:t>SPEAKER 1 · ANDREW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25296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Five regimes in five years. Each paid a different premium and punished a different flaw. Here is which sleeve answered each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85855" cy="768096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2021–22 · Crypto winter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709928"/>
            <a:ext cx="44805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>
                <a:solidFill>
                  <a:srgbClr val="262626"/>
                </a:solidFill>
                <a:latin typeface="Calibri"/>
              </a:rPr>
              <a:t>BTC fell 74% peak-to-trough; buy-and-hold wore all of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709928"/>
            <a:ext cx="31363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>
                <a:solidFill>
                  <a:srgbClr val="262626"/>
                </a:solidFill>
                <a:latin typeface="Calibri"/>
              </a:rPr>
              <a:t>Wheel: max drawdown −43%, and USD 476K of modelled premium across the window.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96312"/>
            <a:ext cx="11185855" cy="768096"/>
          </a:xfrm>
          <a:prstGeom prst="roundRect">
            <a:avLst/>
          </a:prstGeom>
          <a:solidFill>
            <a:srgbClr val="E2E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8775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00" b="1">
                <a:solidFill>
                  <a:srgbClr val="445E2E"/>
                </a:solidFill>
                <a:latin typeface="Calibri"/>
              </a:rPr>
              <a:t>2022 · The rate shock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560320"/>
            <a:ext cx="44805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>
                <a:solidFill>
                  <a:srgbClr val="262626"/>
                </a:solidFill>
                <a:latin typeface="Calibri"/>
              </a:rPr>
              <a:t>Stocks and bonds fell together; the classic hedge failed.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31363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>
                <a:solidFill>
                  <a:srgbClr val="262626"/>
                </a:solidFill>
                <a:latin typeface="Calibri"/>
              </a:rPr>
              <a:t>IDX carried the year: coal and nickel +98.7% on the energy shock. E1 −2.2%, the wheel bled, dip sat in cash (−1.1%). Book: +14.1%.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46704"/>
            <a:ext cx="11185855" cy="768096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3814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Aug 2024 · The yen unwind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410712"/>
            <a:ext cx="44805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>
                <a:solidFill>
                  <a:srgbClr val="262626"/>
                </a:solidFill>
                <a:latin typeface="Calibri"/>
              </a:rPr>
              <a:t>A three-day global deleveraging as the carry trade burst.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410712"/>
            <a:ext cx="31363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>
                <a:solidFill>
                  <a:srgbClr val="262626"/>
                </a:solidFill>
                <a:latin typeface="Calibri"/>
              </a:rPr>
              <a:t>Book: +0.4%. Nothing in the book trades the yen; nothing had 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97096"/>
            <a:ext cx="11185855" cy="768096"/>
          </a:xfrm>
          <a:prstGeom prst="roundRect">
            <a:avLst/>
          </a:prstGeom>
          <a:solidFill>
            <a:srgbClr val="E9D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88536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00" b="1">
                <a:solidFill>
                  <a:srgbClr val="5B2D90"/>
                </a:solidFill>
                <a:latin typeface="Calibri"/>
              </a:rPr>
              <a:t>Apr 2025 · The Trump tariff shock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261104"/>
            <a:ext cx="44805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>
                <a:solidFill>
                  <a:srgbClr val="262626"/>
                </a:solidFill>
                <a:latin typeface="Calibri"/>
              </a:rPr>
              <a:t>Policy whiplash: tariffs announced, paused, re-announced within weeks.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261104"/>
            <a:ext cx="31363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>
                <a:solidFill>
                  <a:srgbClr val="262626"/>
                </a:solidFill>
                <a:latin typeface="Calibri"/>
              </a:rPr>
              <a:t>The dip sleeve bought the tariff dip (+9.3% in a week). Book: +1.1%.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047488"/>
            <a:ext cx="11185855" cy="768096"/>
          </a:xfrm>
          <a:prstGeom prst="roundRect">
            <a:avLst/>
          </a:prstGeom>
          <a:solidFill>
            <a:srgbClr val="FBE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3892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00" b="1">
                <a:solidFill>
                  <a:srgbClr val="B05A0B"/>
                </a:solidFill>
                <a:latin typeface="Calibri"/>
              </a:rPr>
              <a:t>2023–26 · The gold supercycle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5111496"/>
            <a:ext cx="44805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>
                <a:solidFill>
                  <a:srgbClr val="262626"/>
                </a:solidFill>
                <a:latin typeface="Calibri"/>
              </a:rPr>
              <a:t>Speculative positioning pinned at the 79th percentile (Oct 2026).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111496"/>
            <a:ext cx="31363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>
                <a:solidFill>
                  <a:srgbClr val="262626"/>
                </a:solidFill>
                <a:latin typeface="Calibri"/>
              </a:rPr>
              <a:t>IDX loads on gold (β +0.38); the gold basket and COT brake are design variants outside the book.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07024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700"/>
              </a:spcAft>
            </a:pPr>
            <a:r>
              <a:rPr sz="1400" b="1">
                <a:solidFill>
                  <a:srgbClr val="262626"/>
                </a:solidFill>
                <a:latin typeface="Calibri"/>
              </a:rPr>
              <a:t>No single strategy survived all five regimes. The book is built so no single headline can fire every sleeve at once.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THE BOOK · WHY FOUR 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Why a book, not a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18320" y="182880"/>
            <a:ext cx="2267712" cy="347472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1F3864"/>
                </a:solidFill>
                <a:latin typeface="Calibri"/>
              </a:rPr>
              <a:t>SPEAKER 1 · ANDREW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2377440" cy="304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224942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Sleeve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298448"/>
            <a:ext cx="2011680" cy="304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1298448"/>
            <a:ext cx="188366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Premium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1298448"/>
            <a:ext cx="2834640" cy="304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1298448"/>
            <a:ext cx="270662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80" y="1298448"/>
            <a:ext cx="3959352" cy="304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1298448"/>
            <a:ext cx="3831336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What kills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603248"/>
            <a:ext cx="237744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603248"/>
            <a:ext cx="224942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1F3864"/>
                </a:solidFill>
                <a:latin typeface="Calibri"/>
              </a:rPr>
              <a:t>1. Mean reversion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1603248"/>
            <a:ext cx="201168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4368" y="1603248"/>
            <a:ext cx="188366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Relative 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1603248"/>
            <a:ext cx="283464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1603248"/>
            <a:ext cx="270662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SGX + US equities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80" y="1603248"/>
            <a:ext cx="3959352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0688" y="1603248"/>
            <a:ext cx="3831336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Crowding; regime change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1908048"/>
            <a:ext cx="237744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1908048"/>
            <a:ext cx="224942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5B2D90"/>
                </a:solidFill>
                <a:latin typeface="Calibri"/>
              </a:rPr>
              <a:t>2. BTC wheel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1908048"/>
            <a:ext cx="201168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44368" y="1908048"/>
            <a:ext cx="188366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Volatility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1908048"/>
            <a:ext cx="283464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56048" y="1908048"/>
            <a:ext cx="270662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Bitcoin options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80" y="1908048"/>
            <a:ext cx="3959352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0688" y="1908048"/>
            <a:ext cx="3831336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A full bear market, held naked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212848"/>
            <a:ext cx="237744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2212848"/>
            <a:ext cx="224942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B05A0B"/>
                </a:solidFill>
                <a:latin typeface="Calibri"/>
              </a:rPr>
              <a:t>3. IDX commodities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2212848"/>
            <a:ext cx="201168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44368" y="2212848"/>
            <a:ext cx="188366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Commodity beta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2212848"/>
            <a:ext cx="283464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56048" y="2212848"/>
            <a:ext cx="270662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Indonesian equities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26680" y="2212848"/>
            <a:ext cx="3959352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0688" y="2212848"/>
            <a:ext cx="3831336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Commodity downcycles; IDR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2517648"/>
            <a:ext cx="2377440" cy="5410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2517648"/>
            <a:ext cx="2249424" cy="541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445E2E"/>
                </a:solidFill>
                <a:latin typeface="Calibri"/>
              </a:rPr>
              <a:t>4. Dip buying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2517648"/>
            <a:ext cx="2011680" cy="5410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44368" y="2517648"/>
            <a:ext cx="1883664" cy="541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Short-term reversal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92040" y="2517648"/>
            <a:ext cx="2834640" cy="5410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56048" y="2517648"/>
            <a:ext cx="2706624" cy="541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Nasdaq-100 equities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26680" y="2517648"/>
            <a:ext cx="3959352" cy="5410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90688" y="2517648"/>
            <a:ext cx="3831336" cy="5410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A bear that keeps dipping; no stop loss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3401568"/>
            <a:ext cx="111858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Measured on the common window (Apr 2021 to Oct 2026), every pair of sleeves correlates between </a:t>
            </a:r>
            <a:r>
              <a:rPr sz="1500" b="1">
                <a:solidFill>
                  <a:srgbClr val="262626"/>
                </a:solidFill>
                <a:latin typeface="Calibri"/>
              </a:rPr>
              <a:t>−0.09 and +0.23</a:t>
            </a:r>
            <a:r>
              <a:rPr sz="1500" b="0">
                <a:solidFill>
                  <a:srgbClr val="262626"/>
                </a:solidFill>
                <a:latin typeface="Calibri"/>
              </a:rPr>
              <a:t>. The four signals are differentiated, not independent — the wheel carries BTC beta and IDX loads on gold — so the book can be more than the sum of its parts, if it is sized honestly.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The shared flaw, stated before the results: sleeves 2, 3 and 4 are all long risk. What stands against a crash is Sleeve 1’s near-zero measured factor exposure (R² 0.01), Sleeve 4’s trend filter (it held −1.1% in 2022 by sitting mostly in cash), and the book brake. The portfolio slide tests whether that is enough.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4956048"/>
            <a:ext cx="2673019" cy="73152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1.54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Book Sharpe (common window)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40531" y="4956048"/>
            <a:ext cx="2673019" cy="73152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≤ 0.23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Highest pairwise sleeve correlation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78143" y="4956048"/>
            <a:ext cx="2673019" cy="73152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+14.1%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Book return in 2022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15755" y="4956048"/>
            <a:ext cx="2673019" cy="73152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−8.1%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Book max drawdown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SLEEVE 1 · RELATIVE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Mean reversion engine (PCA statistical arbitrage)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18320" y="182880"/>
            <a:ext cx="2267712" cy="347472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1F3864"/>
                </a:solidFill>
                <a:latin typeface="Calibri"/>
              </a:rPr>
              <a:t>SPEAKER 2 · EDWARD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43584"/>
            <a:ext cx="2673019" cy="73152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0.67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Sharpe, net (2019–2026)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0531" y="1243584"/>
            <a:ext cx="2673019" cy="73152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−9.1%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Max drawdown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8143" y="1243584"/>
            <a:ext cx="2673019" cy="73152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1,541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Trades · 59.1% win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5755" y="1243584"/>
            <a:ext cx="2673019" cy="73152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0.06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Sharpe since 2024 — decaying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57984"/>
            <a:ext cx="6309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00" b="1">
                <a:solidFill>
                  <a:srgbClr val="262626"/>
                </a:solidFill>
                <a:latin typeface="Calibri"/>
              </a:rPr>
              <a:t>Frozen spec.</a:t>
            </a:r>
            <a:r>
              <a:rPr sz="1400" b="0">
                <a:solidFill>
                  <a:srgbClr val="262626"/>
                </a:solidFill>
                <a:latin typeface="Calibri"/>
              </a:rPr>
              <a:t> Residuals from a 3-factor PCA model (60-day window) on 34 names (9 SGX + 25 US). Trade the OU s-score: open at ±1.5, close at ∓0.5, stop at |s| &gt; 3.5, half-life ≤ 30 days. Costs: 10 bps on every change in position weight (entries, exits and daily rebalancing).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00400"/>
            <a:ext cx="4206240" cy="281178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200400"/>
            <a:ext cx="40782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Net results, Apr 2019 to Oct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59" y="3200400"/>
            <a:ext cx="2103120" cy="281178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3200400"/>
            <a:ext cx="197510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81578"/>
            <a:ext cx="420624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481578"/>
            <a:ext cx="40782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Return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59" y="3481578"/>
            <a:ext cx="210312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3481578"/>
            <a:ext cx="197510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5.6%/yr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62756"/>
            <a:ext cx="420624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62756"/>
            <a:ext cx="40782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Sharpe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59" y="3762756"/>
            <a:ext cx="210312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3168" y="3762756"/>
            <a:ext cx="197510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0.67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043934"/>
            <a:ext cx="420624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043934"/>
            <a:ext cx="40782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Volatility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59" y="4043934"/>
            <a:ext cx="210312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73168" y="4043934"/>
            <a:ext cx="197510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8.5%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25112"/>
            <a:ext cx="420624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325112"/>
            <a:ext cx="40782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Max drawdown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59" y="4325112"/>
            <a:ext cx="210312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4325112"/>
            <a:ext cx="197510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−9.1%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606290"/>
            <a:ext cx="420624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606290"/>
            <a:ext cx="40782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Trades / win rate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59" y="4606290"/>
            <a:ext cx="210312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73168" y="4606290"/>
            <a:ext cx="197510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1,541 / 59.1%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887468"/>
            <a:ext cx="420624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887468"/>
            <a:ext cx="40782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Avg hold / profit per trade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09159" y="4887468"/>
            <a:ext cx="210312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73168" y="4887468"/>
            <a:ext cx="197510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11.8 days / +2.7 bps</a:t>
            </a:r>
          </a:p>
        </p:txBody>
      </p:sp>
      <p:pic>
        <p:nvPicPr>
          <p:cNvPr id="39" name="Picture 38" descr="chart_equ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157984"/>
            <a:ext cx="4599432" cy="276188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086600" y="4993023"/>
            <a:ext cx="45994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Equity curve and drawdown, net of costs. The engine made money through the 2020 crash; 2022 was a small loss (−2.2%) once every rebalance is charged, and its flat years are recent.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72414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Lecture exhibits: factor attribution (A6) · cointegration and residual diagnostics (A9)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6016752"/>
            <a:ext cx="11185855" cy="530352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00" b="1">
                <a:solidFill>
                  <a:srgbClr val="262626"/>
                </a:solidFill>
                <a:latin typeface="Calibri"/>
              </a:rPr>
              <a:t>The flaw, on the record:</a:t>
            </a:r>
            <a:r>
              <a:rPr sz="1300" b="0">
                <a:solidFill>
                  <a:srgbClr val="262626"/>
                </a:solidFill>
                <a:latin typeface="Calibri"/>
              </a:rPr>
              <a:t> the edge is real and decaying, so this engine is the book's ballast at 40%, not its return promise.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5B2D90"/>
                </a:solidFill>
                <a:latin typeface="Calibri"/>
              </a:rPr>
              <a:t>SLEEVE 2 · VOLATILITY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Bitcoin options wheel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5B2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18320" y="182880"/>
            <a:ext cx="2267712" cy="347472"/>
          </a:xfrm>
          <a:prstGeom prst="roundRect">
            <a:avLst/>
          </a:prstGeom>
          <a:solidFill>
            <a:srgbClr val="E9D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5B2D90"/>
                </a:solidFill>
                <a:latin typeface="Calibri"/>
              </a:rPr>
              <a:t>SPEAKER 2 · EDWARD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43584"/>
            <a:ext cx="2673019" cy="731520"/>
          </a:xfrm>
          <a:prstGeom prst="roundRect">
            <a:avLst/>
          </a:prstGeom>
          <a:solidFill>
            <a:srgbClr val="E9D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5B2D90"/>
                </a:solidFill>
                <a:latin typeface="Calibri"/>
              </a:rPr>
              <a:t>0.65 vs 0.38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Sharpe vs buy-and-hold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0531" y="1243584"/>
            <a:ext cx="2673019" cy="731520"/>
          </a:xfrm>
          <a:prstGeom prst="roundRect">
            <a:avLst/>
          </a:prstGeom>
          <a:solidFill>
            <a:srgbClr val="E9D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5B2D90"/>
                </a:solidFill>
                <a:latin typeface="Calibri"/>
              </a:rPr>
              <a:t>$476K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Modelled gross premium, 289 sales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8143" y="1243584"/>
            <a:ext cx="2673019" cy="731520"/>
          </a:xfrm>
          <a:prstGeom prst="roundRect">
            <a:avLst/>
          </a:prstGeom>
          <a:solidFill>
            <a:srgbClr val="E9D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5B2D90"/>
                </a:solidFill>
                <a:latin typeface="Calibri"/>
              </a:rPr>
              <a:t>−43% vs −74%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Max DD vs buy-and-hold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5755" y="1243584"/>
            <a:ext cx="2673019" cy="731520"/>
          </a:xfrm>
          <a:prstGeom prst="roundRect">
            <a:avLst/>
          </a:prstGeom>
          <a:solidFill>
            <a:srgbClr val="E9D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5B2D90"/>
                </a:solidFill>
                <a:latin typeface="Calibri"/>
              </a:rPr>
              <a:t>≈22%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1-wk 99% ES — the tail (A7)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57984"/>
            <a:ext cx="6309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00" b="1">
                <a:solidFill>
                  <a:srgbClr val="262626"/>
                </a:solidFill>
                <a:latin typeface="Calibri"/>
              </a:rPr>
              <a:t>Mechanism.</a:t>
            </a:r>
            <a:r>
              <a:rPr sz="1400" b="0">
                <a:solidFill>
                  <a:srgbClr val="262626"/>
                </a:solidFill>
                <a:latin typeface="Calibri"/>
              </a:rPr>
              <a:t> Weekly cycle, 25-delta options, 1 week to expiry, priced off Deribit's DVOL index. Flat: sell cash-secured puts. Holding: sell covered calls. Cash earns the T-bill rate. Apr 2021 to Oct 2026, USD 100K.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82112"/>
            <a:ext cx="2651760" cy="281178"/>
          </a:xfrm>
          <a:prstGeom prst="rect">
            <a:avLst/>
          </a:prstGeom>
          <a:solidFill>
            <a:srgbClr val="5B2D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182112"/>
            <a:ext cx="25237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3182112"/>
            <a:ext cx="1188720" cy="281178"/>
          </a:xfrm>
          <a:prstGeom prst="rect">
            <a:avLst/>
          </a:prstGeom>
          <a:solidFill>
            <a:srgbClr val="5B2D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8688" y="3182112"/>
            <a:ext cx="106070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FFFFFF"/>
                </a:solidFill>
                <a:latin typeface="Calibri"/>
              </a:rPr>
              <a:t>Sharpe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182112"/>
            <a:ext cx="1188720" cy="281178"/>
          </a:xfrm>
          <a:prstGeom prst="rect">
            <a:avLst/>
          </a:prstGeom>
          <a:solidFill>
            <a:srgbClr val="5B2D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3182112"/>
            <a:ext cx="106070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FFFFFF"/>
                </a:solidFill>
                <a:latin typeface="Calibri"/>
              </a:rPr>
              <a:t>CAGR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32120" y="3182112"/>
            <a:ext cx="1280160" cy="281178"/>
          </a:xfrm>
          <a:prstGeom prst="rect">
            <a:avLst/>
          </a:prstGeom>
          <a:solidFill>
            <a:srgbClr val="5B2D9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3182112"/>
            <a:ext cx="115214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FFFFFF"/>
                </a:solidFill>
                <a:latin typeface="Calibri"/>
              </a:rPr>
              <a:t>Max DD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463290"/>
            <a:ext cx="2651760" cy="493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463290"/>
            <a:ext cx="2523744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Regime wheel (first design)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3463290"/>
            <a:ext cx="1188720" cy="493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18688" y="3463290"/>
            <a:ext cx="1060704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0.48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463290"/>
            <a:ext cx="1188720" cy="493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3463290"/>
            <a:ext cx="1060704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11.3%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32120" y="3463290"/>
            <a:ext cx="1280160" cy="4937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96128" y="3463290"/>
            <a:ext cx="1152143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−63.3%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957065"/>
            <a:ext cx="265176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957065"/>
            <a:ext cx="25237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Calibri"/>
              </a:rPr>
              <a:t>Always-on wheel (adopted)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3957065"/>
            <a:ext cx="118872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18688" y="3957065"/>
            <a:ext cx="106070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262626"/>
                </a:solidFill>
                <a:latin typeface="Calibri"/>
              </a:rPr>
              <a:t>0.65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957065"/>
            <a:ext cx="118872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7408" y="3957065"/>
            <a:ext cx="106070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262626"/>
                </a:solidFill>
                <a:latin typeface="Calibri"/>
              </a:rPr>
              <a:t>17.2%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32120" y="3957065"/>
            <a:ext cx="128016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96128" y="3957065"/>
            <a:ext cx="115214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262626"/>
                </a:solidFill>
                <a:latin typeface="Calibri"/>
              </a:rPr>
              <a:t>−43.4%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238244"/>
            <a:ext cx="265176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238244"/>
            <a:ext cx="25237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BTC buy and hold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80" y="4238244"/>
            <a:ext cx="118872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18688" y="4238244"/>
            <a:ext cx="106070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0.38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4238244"/>
            <a:ext cx="118872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07408" y="4238244"/>
            <a:ext cx="106070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6.2%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4238244"/>
            <a:ext cx="128016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96128" y="4238244"/>
            <a:ext cx="115214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−74.3%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526280"/>
            <a:ext cx="63093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50" b="1">
                <a:solidFill>
                  <a:srgbClr val="262626"/>
                </a:solidFill>
                <a:latin typeface="Calibri"/>
              </a:rPr>
              <a:t>What the test killed:</a:t>
            </a:r>
            <a:r>
              <a:rPr sz="1350" b="0">
                <a:solidFill>
                  <a:srgbClr val="262626"/>
                </a:solidFill>
                <a:latin typeface="Calibri"/>
              </a:rPr>
              <a:t> the first design sold puts only in bear regimes and calls only in bull regimes. In 2022 it returned −60.7%, close to buy-and-hold (−64%): once assigned, it sold nothing and rode the bear naked. The plain wheel kept harvesting calls through the decline and lost −32.0%.</a:t>
            </a:r>
          </a:p>
        </p:txBody>
      </p:sp>
      <p:pic>
        <p:nvPicPr>
          <p:cNvPr id="44" name="Picture 43" descr="chart_wh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157984"/>
            <a:ext cx="4599432" cy="192738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86600" y="4158516"/>
            <a:ext cx="45994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Adopted vs rejected vs buy-and-hold. The regime overlay is kept in the rejection log (A3), not buried.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72414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Lecture exhibits: implied vs GARCH volatility (A8) · tail risk, EVT (A7)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6016752"/>
            <a:ext cx="11185855" cy="530352"/>
          </a:xfrm>
          <a:prstGeom prst="roundRect">
            <a:avLst/>
          </a:prstGeom>
          <a:solidFill>
            <a:srgbClr val="E9D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00" b="1">
                <a:solidFill>
                  <a:srgbClr val="262626"/>
                </a:solidFill>
                <a:latin typeface="Calibri"/>
              </a:rPr>
              <a:t>Always-on, never idle:</a:t>
            </a:r>
            <a:r>
              <a:rPr sz="1300" b="0">
                <a:solidFill>
                  <a:srgbClr val="262626"/>
                </a:solidFill>
                <a:latin typeface="Calibri"/>
              </a:rPr>
              <a:t> the regime filter was the flaw. Short volatility by construction, so it stays the smallest sleeve at 15%. Its 17.2% CAGR is the wheel's own window from 2 Apr 2021; on the book's common window it is 16.7%.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B05A0B"/>
                </a:solidFill>
                <a:latin typeface="Calibri"/>
              </a:rPr>
              <a:t>SLEEVE 3 · COMMODITY BETA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IDX commodity sleeve (weekly signals)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B05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18320" y="182880"/>
            <a:ext cx="2267712" cy="347472"/>
          </a:xfrm>
          <a:prstGeom prst="roundRect">
            <a:avLst/>
          </a:prstGeom>
          <a:solidFill>
            <a:srgbClr val="FBE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B05A0B"/>
                </a:solidFill>
                <a:latin typeface="Calibri"/>
              </a:rPr>
              <a:t>SPEAKER 3 · WIELLY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43584"/>
            <a:ext cx="2673019" cy="731520"/>
          </a:xfrm>
          <a:prstGeom prst="roundRect">
            <a:avLst/>
          </a:prstGeom>
          <a:solidFill>
            <a:srgbClr val="FBE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B05A0B"/>
                </a:solidFill>
                <a:latin typeface="Calibri"/>
              </a:rPr>
              <a:t>1.11 vs 0.25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Sharpe vs IHSG benchmark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0531" y="1243584"/>
            <a:ext cx="2673019" cy="731520"/>
          </a:xfrm>
          <a:prstGeom prst="roundRect">
            <a:avLst/>
          </a:prstGeom>
          <a:solidFill>
            <a:srgbClr val="FBE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B05A0B"/>
                </a:solidFill>
                <a:latin typeface="Calibri"/>
              </a:rPr>
              <a:t>30.2%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CAGR (IDR)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8143" y="1243584"/>
            <a:ext cx="2673019" cy="731520"/>
          </a:xfrm>
          <a:prstGeom prst="roundRect">
            <a:avLst/>
          </a:prstGeom>
          <a:solidFill>
            <a:srgbClr val="FBE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B05A0B"/>
                </a:solidFill>
                <a:latin typeface="Calibri"/>
              </a:rPr>
              <a:t>+0.38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IDX beta to gold (A6)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5755" y="1243584"/>
            <a:ext cx="2673019" cy="731520"/>
          </a:xfrm>
          <a:prstGeom prst="roundRect">
            <a:avLst/>
          </a:prstGeom>
          <a:solidFill>
            <a:srgbClr val="FBE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B05A0B"/>
                </a:solidFill>
                <a:latin typeface="Calibri"/>
              </a:rPr>
              <a:t>OFF · OFF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Design-variant gates, 9 Oct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57984"/>
            <a:ext cx="6309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00" b="1">
                <a:solidFill>
                  <a:srgbClr val="262626"/>
                </a:solidFill>
                <a:latin typeface="Calibri"/>
              </a:rPr>
              <a:t>Design.</a:t>
            </a:r>
            <a:r>
              <a:rPr sz="1400" b="0">
                <a:solidFill>
                  <a:srgbClr val="262626"/>
                </a:solidFill>
                <a:latin typeface="Calibri"/>
              </a:rPr>
              <a:t> Equal-weight Indonesian commodity baskets, weekly, 25 bps per side, IDR. Coal: ADRO, PTBA, ITMG, BYAN. Nickel: ANTM, INCO, MDKA, NCKL, MBMA. Gold miners: ANTM, BRMS, PSAB, MDKA, ARCI.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82112"/>
            <a:ext cx="2651760" cy="281178"/>
          </a:xfrm>
          <a:prstGeom prst="rect">
            <a:avLst/>
          </a:prstGeom>
          <a:solidFill>
            <a:srgbClr val="B05A0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182112"/>
            <a:ext cx="25237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3182112"/>
            <a:ext cx="1188720" cy="281178"/>
          </a:xfrm>
          <a:prstGeom prst="rect">
            <a:avLst/>
          </a:prstGeom>
          <a:solidFill>
            <a:srgbClr val="B05A0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8688" y="3182112"/>
            <a:ext cx="106070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FFFFFF"/>
                </a:solidFill>
                <a:latin typeface="Calibri"/>
              </a:rPr>
              <a:t>Sharpe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182112"/>
            <a:ext cx="1188720" cy="281178"/>
          </a:xfrm>
          <a:prstGeom prst="rect">
            <a:avLst/>
          </a:prstGeom>
          <a:solidFill>
            <a:srgbClr val="B05A0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3182112"/>
            <a:ext cx="106070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FFFFFF"/>
                </a:solidFill>
                <a:latin typeface="Calibri"/>
              </a:rPr>
              <a:t>CAGR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32120" y="3182112"/>
            <a:ext cx="1280160" cy="281178"/>
          </a:xfrm>
          <a:prstGeom prst="rect">
            <a:avLst/>
          </a:prstGeom>
          <a:solidFill>
            <a:srgbClr val="B05A0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3182112"/>
            <a:ext cx="115214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FFFFFF"/>
                </a:solidFill>
                <a:latin typeface="Calibri"/>
              </a:rPr>
              <a:t>Max DD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463290"/>
            <a:ext cx="265176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463290"/>
            <a:ext cx="25237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Coal + nickel (growth)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3463290"/>
            <a:ext cx="118872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18688" y="3463290"/>
            <a:ext cx="106070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1.11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463290"/>
            <a:ext cx="118872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3463290"/>
            <a:ext cx="106070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30.2%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32120" y="3463290"/>
            <a:ext cx="128016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96128" y="3463290"/>
            <a:ext cx="115214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−41.8%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744468"/>
            <a:ext cx="265176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744468"/>
            <a:ext cx="25237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IHSG benchmark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3744468"/>
            <a:ext cx="118872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18688" y="3744468"/>
            <a:ext cx="106070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744468"/>
            <a:ext cx="118872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7408" y="3744468"/>
            <a:ext cx="106070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4.1%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32120" y="3744468"/>
            <a:ext cx="128016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96128" y="3744468"/>
            <a:ext cx="115214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−38.4%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133087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50" b="1">
                <a:solidFill>
                  <a:srgbClr val="262626"/>
                </a:solidFill>
                <a:latin typeface="Calibri"/>
              </a:rPr>
              <a:t>Findings:</a:t>
            </a:r>
            <a:r>
              <a:rPr sz="1350" b="0">
                <a:solidFill>
                  <a:srgbClr val="262626"/>
                </a:solidFill>
                <a:latin typeface="Calibri"/>
              </a:rPr>
              <a:t> (1) the alpha is </a:t>
            </a:r>
            <a:r>
              <a:rPr sz="1350" b="1">
                <a:solidFill>
                  <a:srgbClr val="262626"/>
                </a:solidFill>
                <a:latin typeface="Calibri"/>
              </a:rPr>
              <a:t>asset selection</a:t>
            </a:r>
            <a:r>
              <a:rPr sz="1350" b="0">
                <a:solidFill>
                  <a:srgbClr val="262626"/>
                </a:solidFill>
                <a:latin typeface="Calibri"/>
              </a:rPr>
              <a:t>: IHSG is bank-heavy and dilutes the commodity torque. (2) Trend gates are </a:t>
            </a:r>
            <a:r>
              <a:rPr sz="1350" b="1">
                <a:solidFill>
                  <a:srgbClr val="262626"/>
                </a:solidFill>
                <a:latin typeface="Calibri"/>
              </a:rPr>
              <a:t>insurance, not alpha</a:t>
            </a:r>
            <a:r>
              <a:rPr sz="1350" b="0">
                <a:solidFill>
                  <a:srgbClr val="262626"/>
                </a:solidFill>
                <a:latin typeface="Calibri"/>
              </a:rPr>
              <a:t> (coal drawdown −51% → −22%, no Sharpe added). (3) In the gated variant, a COT positioning brake lifted the gold-miner basket's Sharpe 0.81 → 0.86; the naive version failed (A3).</a:t>
            </a:r>
          </a:p>
        </p:txBody>
      </p:sp>
      <p:pic>
        <p:nvPicPr>
          <p:cNvPr id="36" name="Picture 35" descr="chart_idx_week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157984"/>
            <a:ext cx="4599432" cy="231462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086600" y="4545760"/>
            <a:ext cx="45994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Weekly books vs IHSG, 2016 to 2026. Returns in IDR; SGD investors earn less after FX. The book series is the ungated coal + nickel growth baskets; gates and the gold basket are design variants.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72414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CAGR here is the annualised mean weekly return; geometric: IDX 30.3%, IHSG 2.8%.  ·  Exhibits: A6 · A9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6016752"/>
            <a:ext cx="11185855" cy="530352"/>
          </a:xfrm>
          <a:prstGeom prst="roundRect">
            <a:avLst/>
          </a:prstGeom>
          <a:solidFill>
            <a:srgbClr val="FBE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00" b="1">
                <a:solidFill>
                  <a:srgbClr val="262626"/>
                </a:solidFill>
                <a:latin typeface="Calibri"/>
              </a:rPr>
              <a:t>Selection is the alpha:</a:t>
            </a:r>
            <a:r>
              <a:rPr sz="1300" b="0">
                <a:solidFill>
                  <a:srgbClr val="262626"/>
                </a:solidFill>
                <a:latin typeface="Calibri"/>
              </a:rPr>
              <a:t> concentrated commodity torque the benchmark dilutes, with gates that insure rather than pretend to predict.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445E2E"/>
                </a:solidFill>
                <a:latin typeface="Calibri"/>
              </a:rPr>
              <a:t>SLEEVE 4 · SHORT-TERM REVERSAL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Dip buying, Nasdaq-100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445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18320" y="182880"/>
            <a:ext cx="2267712" cy="347472"/>
          </a:xfrm>
          <a:prstGeom prst="roundRect">
            <a:avLst/>
          </a:prstGeom>
          <a:solidFill>
            <a:srgbClr val="E2E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445E2E"/>
                </a:solidFill>
                <a:latin typeface="Calibri"/>
              </a:rPr>
              <a:t>SPEAKER 3 · WIELLY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43584"/>
            <a:ext cx="2673019" cy="731520"/>
          </a:xfrm>
          <a:prstGeom prst="roundRect">
            <a:avLst/>
          </a:prstGeom>
          <a:solidFill>
            <a:srgbClr val="E2E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445E2E"/>
                </a:solidFill>
                <a:latin typeface="Calibri"/>
              </a:rPr>
              <a:t>1.07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Sharpe, long run 2015–2026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0531" y="1243584"/>
            <a:ext cx="2673019" cy="731520"/>
          </a:xfrm>
          <a:prstGeom prst="roundRect">
            <a:avLst/>
          </a:prstGeom>
          <a:solidFill>
            <a:srgbClr val="E2E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445E2E"/>
                </a:solidFill>
                <a:latin typeface="Calibri"/>
              </a:rPr>
              <a:t>1.70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Sharpe since 2024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8143" y="1243584"/>
            <a:ext cx="2673019" cy="731520"/>
          </a:xfrm>
          <a:prstGeom prst="roundRect">
            <a:avLst/>
          </a:prstGeom>
          <a:solidFill>
            <a:srgbClr val="E2E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445E2E"/>
                </a:solidFill>
                <a:latin typeface="Calibri"/>
              </a:rPr>
              <a:t>−1.1%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2022: sat the bear 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5755" y="1243584"/>
            <a:ext cx="2673019" cy="731520"/>
          </a:xfrm>
          <a:prstGeom prst="roundRect">
            <a:avLst/>
          </a:prstGeom>
          <a:solidFill>
            <a:srgbClr val="E2E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445E2E"/>
                </a:solidFill>
                <a:latin typeface="Calibri"/>
              </a:rPr>
              <a:t>≈13%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Average capital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57984"/>
            <a:ext cx="63093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00" b="1">
                <a:solidFill>
                  <a:srgbClr val="262626"/>
                </a:solidFill>
                <a:latin typeface="Calibri"/>
              </a:rPr>
              <a:t>Design.</a:t>
            </a:r>
            <a:r>
              <a:rPr sz="1400" b="0">
                <a:solidFill>
                  <a:srgbClr val="262626"/>
                </a:solidFill>
                <a:latin typeface="Calibri"/>
              </a:rPr>
              <a:t> Our rebuild of a published dip-buying rule set, verified against its reported results. Nasdaq-100 names above their 200-day average; a one-day drop over 3% at high ATR triggers a next-day limit buy 0.9×ATR below the close. Exits: a +0.5×ATR target, a close above the prior day's high, or day 11. Max 10 positions. No stop loss.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602736"/>
            <a:ext cx="2834640" cy="493775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602736"/>
            <a:ext cx="2706624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Long run 2015–2026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3602736"/>
            <a:ext cx="3474720" cy="493775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3602736"/>
            <a:ext cx="3346703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Sharpe 1.07 daily (1.50 weekly), CAGR 14.8%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96511"/>
            <a:ext cx="283464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096511"/>
            <a:ext cx="27066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Calibri"/>
              </a:rPr>
              <a:t>Trades / win rate / hold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4096511"/>
            <a:ext cx="347472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4096511"/>
            <a:ext cx="334670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262626"/>
                </a:solidFill>
                <a:latin typeface="Calibri"/>
              </a:rPr>
              <a:t>853 / 69.9% / 4.7 days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77690"/>
            <a:ext cx="283464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377690"/>
            <a:ext cx="27066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Max drawdown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4377690"/>
            <a:ext cx="347472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4377690"/>
            <a:ext cx="334670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−11.3%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58868"/>
            <a:ext cx="283464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658868"/>
            <a:ext cx="27066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COVID crash, Feb–Mar 2020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4658868"/>
            <a:ext cx="347472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01568" y="4658868"/>
            <a:ext cx="334670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−3.7%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940046"/>
            <a:ext cx="2834640" cy="493775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940046"/>
            <a:ext cx="2706624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Since 2024 (published test window)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4940046"/>
            <a:ext cx="3474720" cy="493775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01568" y="4940046"/>
            <a:ext cx="3346703" cy="493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Sharpe 1.70, CAGR 39.1% (to 14 Oct 2026)</a:t>
            </a:r>
          </a:p>
        </p:txBody>
      </p:sp>
      <p:pic>
        <p:nvPicPr>
          <p:cNvPr id="31" name="Picture 30" descr="chart_d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157984"/>
            <a:ext cx="4599432" cy="192339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086600" y="4154534"/>
            <a:ext cx="45994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Equity curve and drawdown, 2015 to 2026, net of IBKR commissions. The flat stretches are the design working: no qualifying dips, no trades. Universe: today's constituents applied backwards (slide 10).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72414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Lecture exhibits: factor attribution (A6) · tail risk, EVT (A7)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6016752"/>
            <a:ext cx="11185855" cy="530352"/>
          </a:xfrm>
          <a:prstGeom prst="roundRect">
            <a:avLst/>
          </a:prstGeom>
          <a:solidFill>
            <a:srgbClr val="E2E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00" b="1">
                <a:solidFill>
                  <a:srgbClr val="262626"/>
                </a:solidFill>
                <a:latin typeface="Calibri"/>
              </a:rPr>
              <a:t>A long-only sleeve that survives bears by absence:</a:t>
            </a:r>
            <a:r>
              <a:rPr sz="1300" b="0">
                <a:solidFill>
                  <a:srgbClr val="262626"/>
                </a:solidFill>
                <a:latin typeface="Calibri"/>
              </a:rPr>
              <a:t> the 200-day filter keeps it in cash when dips turn into downtrends. Its risk is the mirror image: a crash that starts at all-time highs.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PORTFOLIO ·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The whole falls less than every 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18320" y="182880"/>
            <a:ext cx="2267712" cy="347472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1F3864"/>
                </a:solidFill>
                <a:latin typeface="Calibri"/>
              </a:rPr>
              <a:t>SPEAKER 4 · MICHAEL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43584"/>
            <a:ext cx="2673019" cy="73152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1.54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Book Sharpe (common window)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0531" y="1243584"/>
            <a:ext cx="2673019" cy="73152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+14.1%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2022: BTC −64%, equities −19%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8143" y="1243584"/>
            <a:ext cx="2673019" cy="73152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−8.1%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Book max drawdown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5755" y="1243584"/>
            <a:ext cx="2673019" cy="73152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+0.07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Book equity beta (A6)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57984"/>
            <a:ext cx="6309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Allocation, quarterly rebalanced: </a:t>
            </a:r>
            <a:r>
              <a:rPr sz="1400" b="1">
                <a:solidFill>
                  <a:srgbClr val="262626"/>
                </a:solidFill>
                <a:latin typeface="Calibri"/>
              </a:rPr>
              <a:t>E1 40%   Dip 20%   IDX 25%   Wheel 15%</a:t>
            </a:r>
            <a:r>
              <a:rPr sz="1400" b="0">
                <a:solidFill>
                  <a:srgbClr val="262626"/>
                </a:solidFill>
                <a:latin typeface="Calibri"/>
              </a:rPr>
              <a:t>. Sleeves are aggregated in native currencies (IDX in IDR, unhedged): a model composite, not a single-currency fund return.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11887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926080"/>
            <a:ext cx="10607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2926080"/>
            <a:ext cx="128016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55648" y="2926080"/>
            <a:ext cx="11521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Sharpe*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2926080"/>
            <a:ext cx="128016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808" y="2926080"/>
            <a:ext cx="11521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CAGR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2926080"/>
            <a:ext cx="11887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2926080"/>
            <a:ext cx="10607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Vol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40680" y="2926080"/>
            <a:ext cx="137160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04688" y="2926080"/>
            <a:ext cx="124358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Max DD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00400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200400"/>
            <a:ext cx="10607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E1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91640" y="3200400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55648" y="3200400"/>
            <a:ext cx="11521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0.22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3200400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35808" y="3200400"/>
            <a:ext cx="11521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1.5%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3200400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5968" y="3200400"/>
            <a:ext cx="10607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8.2%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40680" y="3200400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04688" y="3200400"/>
            <a:ext cx="124358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−8.4%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474720"/>
            <a:ext cx="118872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3474720"/>
            <a:ext cx="10607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DIP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91640" y="3474720"/>
            <a:ext cx="128016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55648" y="3474720"/>
            <a:ext cx="11521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1.73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71800" y="3474720"/>
            <a:ext cx="128016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35808" y="3474720"/>
            <a:ext cx="11521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20.8%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3474720"/>
            <a:ext cx="118872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15968" y="3474720"/>
            <a:ext cx="10607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11.3%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40680" y="3474720"/>
            <a:ext cx="137160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04688" y="3474720"/>
            <a:ext cx="124358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−10.9%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749039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3749039"/>
            <a:ext cx="10607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IDX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91640" y="3749039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55648" y="3749039"/>
            <a:ext cx="11521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1.04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71800" y="3749039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35808" y="3749039"/>
            <a:ext cx="11521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26.3%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51960" y="3749039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15968" y="3749039"/>
            <a:ext cx="10607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25.5%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40680" y="3749039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04688" y="3749039"/>
            <a:ext cx="124358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−35.3%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023359"/>
            <a:ext cx="118872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4023359"/>
            <a:ext cx="10607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Wheel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91640" y="4023359"/>
            <a:ext cx="128016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55648" y="4023359"/>
            <a:ext cx="11521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0.65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71800" y="4023359"/>
            <a:ext cx="128016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35808" y="4023359"/>
            <a:ext cx="11521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16.7%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0" y="4023359"/>
            <a:ext cx="118872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15968" y="4023359"/>
            <a:ext cx="10607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32.4%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40680" y="4023359"/>
            <a:ext cx="137160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04688" y="4023359"/>
            <a:ext cx="124358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−43.4%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297679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4297679"/>
            <a:ext cx="10607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BOOK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91640" y="4297679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755648" y="4297679"/>
            <a:ext cx="11521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262626"/>
                </a:solidFill>
                <a:latin typeface="Calibri"/>
              </a:rPr>
              <a:t>1.54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71800" y="4297679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035808" y="4297679"/>
            <a:ext cx="11521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262626"/>
                </a:solidFill>
                <a:latin typeface="Calibri"/>
              </a:rPr>
              <a:t>15.4%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51960" y="4297679"/>
            <a:ext cx="11887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15968" y="4297679"/>
            <a:ext cx="10607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262626"/>
                </a:solidFill>
                <a:latin typeface="Calibri"/>
              </a:rPr>
              <a:t>9.6%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4297679"/>
            <a:ext cx="1371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04688" y="4297679"/>
            <a:ext cx="124358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262626"/>
                </a:solidFill>
                <a:latin typeface="Calibri"/>
              </a:rPr>
              <a:t>−8.1%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4571999"/>
            <a:ext cx="118872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6928" y="4571999"/>
            <a:ext cx="10607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  <a:latin typeface="Calibri"/>
              </a:rPr>
              <a:t>SPX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691640" y="4571999"/>
            <a:ext cx="128016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55648" y="4571999"/>
            <a:ext cx="11521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0.84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971800" y="4571999"/>
            <a:ext cx="128016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035808" y="4571999"/>
            <a:ext cx="11521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12.7%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51960" y="4571999"/>
            <a:ext cx="118872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15968" y="4571999"/>
            <a:ext cx="106070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15.7%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40680" y="4571999"/>
            <a:ext cx="137160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04688" y="4571999"/>
            <a:ext cx="124358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262626"/>
                </a:solidFill>
                <a:latin typeface="Calibri"/>
              </a:rPr>
              <a:t>−24.8%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5029200"/>
            <a:ext cx="6309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50" b="0">
                <a:solidFill>
                  <a:srgbClr val="262626"/>
                </a:solidFill>
                <a:latin typeface="Calibri"/>
              </a:rPr>
              <a:t>Stress record: 2022 +14.1%; Aug 2024 +0.4%; Apr 2025 +1.1%. The 12% vol-target overlay (Sharpe 1.45, DD −10.7%) levers the book up from 9.6% vol: CAGR 19.0%, deeper drawdown. Kept out.</a:t>
            </a:r>
          </a:p>
        </p:txBody>
      </p:sp>
      <p:pic>
        <p:nvPicPr>
          <p:cNvPr id="82" name="Picture 81" descr="chart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157984"/>
            <a:ext cx="4599432" cy="2014989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7086600" y="4246124"/>
            <a:ext cx="45994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Correlations: E1–DIP −0.09, E1–IDX −0.03, E1–Wheel −0.01, DIP–IDX −0.08, DIP–Wheel +0.16, IDX–Wheel +0.23. The grey dashed line is the S&amp;P 500: +94.3% over the window with a −24.8% drawdown, against the book's +121.0% and −8.1%. The dip sleeve trades E1’s market and still correlates at −0.09: it deploys only ≈13% of its capital on average, with positions open on about half of days. Lecture exhibits: A5 · A7 · A6.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" y="572414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*Sharpe = annualised mean weekly return ÷ standard deviation, no risk-free rate deducted (all rows); net of T-bills (avg 3.4%): book 1.18, SPX 0.63.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02920" y="6016752"/>
            <a:ext cx="11185855" cy="530352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00" b="1">
                <a:solidFill>
                  <a:srgbClr val="262626"/>
                </a:solidFill>
                <a:latin typeface="Calibri"/>
              </a:rPr>
              <a:t>Diversification is still the strategy at book level:</a:t>
            </a:r>
            <a:r>
              <a:rPr sz="1300" b="0">
                <a:solidFill>
                  <a:srgbClr val="262626"/>
                </a:solidFill>
                <a:latin typeface="Calibri"/>
              </a:rPr>
              <a:t> Sharpe 1.54, max drawdown −8.1%, positive in all three stress windows; 2022 is IDX-driven (+98.7%), without which the other sleeves lose about 7%. SPX: Sharpe 0.84, drawdown −24.8%, −19.4% in 2022.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LIVE WINDOW ·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Operating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18320" y="182880"/>
            <a:ext cx="2267712" cy="347472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1F3864"/>
                </a:solidFill>
                <a:latin typeface="Calibri"/>
              </a:rPr>
              <a:t>SPEAKER 4 · MICHAEL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Discipline before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3949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50" b="0">
                <a:solidFill>
                  <a:srgbClr val="262626"/>
                </a:solidFill>
                <a:latin typeface="Calibri"/>
              </a:rPr>
              <a:t>•  Rules frozen 1 Oct; the freeze log at right records two changes made inside the window, with reasons.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50" b="0">
                <a:solidFill>
                  <a:srgbClr val="262626"/>
                </a:solidFill>
                <a:latin typeface="Calibri"/>
              </a:rPr>
              <a:t>•  Weekly tear sheet per sleeve and for the book, produced at every Friday close in the window.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50" b="0">
                <a:solidFill>
                  <a:srgbClr val="262626"/>
                </a:solidFill>
                <a:latin typeface="Calibri"/>
              </a:rPr>
              <a:t>•  Book brake: halve gross at −5% drawdown; stop and review at −8% (backtests exclude the brake). October crossed −5% in the week ending 16 Oct; test returns are unbraked.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298448"/>
            <a:ext cx="53949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1">
                <a:solidFill>
                  <a:srgbClr val="262626"/>
                </a:solidFill>
                <a:latin typeface="Calibri"/>
              </a:rPr>
              <a:t>Reporting, in the brief's own metrics:</a:t>
            </a:r>
            <a:r>
              <a:rPr sz="1250" b="0">
                <a:solidFill>
                  <a:srgbClr val="262626"/>
                </a:solidFill>
                <a:latin typeface="Calibri"/>
              </a:rPr>
              <a:t> annual return, Sharpe, maximum drawdown and drawdown count, win rate, volatility, number of trades, average holding period, profit per trade.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>
                <a:solidFill>
                  <a:srgbClr val="262626"/>
                </a:solidFill>
                <a:latin typeface="Calibri"/>
              </a:rPr>
              <a:t>Reported per sleeve and for the book, with trade counts beside every ratio. A few weeks of live data can validate operations and discipline, not a premium, and we will not present it as if it does.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1">
                <a:solidFill>
                  <a:srgbClr val="262626"/>
                </a:solidFill>
                <a:latin typeface="Calibri"/>
              </a:rPr>
              <a:t>Freeze log:</a:t>
            </a:r>
            <a:r>
              <a:rPr sz="1250" b="0">
                <a:solidFill>
                  <a:srgbClr val="262626"/>
                </a:solidFill>
                <a:latin typeface="Calibri"/>
              </a:rPr>
              <a:t> frozen 1 Oct; two changes inside the window, both on pre-window evidence: (1) 15 Oct, Sleeve 4 CTA futures replaced by dip buying (verified 1.07 vs 0.34, A3); (2) 22 Oct, E1 costing rerun at full turnover (returns fell). </a:t>
            </a:r>
            <a:r>
              <a:rPr sz="1250" b="1">
                <a:solidFill>
                  <a:srgbClr val="262626"/>
                </a:solidFill>
                <a:latin typeface="Calibri"/>
              </a:rPr>
              <a:t>Brake, quantified:</a:t>
            </a:r>
            <a:r>
              <a:rPr sz="1250" b="0">
                <a:solidFill>
                  <a:srgbClr val="262626"/>
                </a:solidFill>
                <a:latin typeface="Calibri"/>
              </a:rPr>
              <a:t> at or below −5% in 10 weeks (5 episodes); −8% breached once (5 Jun 2026, −8.12%); return effect not simulated. The swap was no response to the live loss: the dip sleeve fell in October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The operating rhythm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50208"/>
            <a:ext cx="2722168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407822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DAILY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4370832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Calibri"/>
              </a:rPr>
              <a:t>E1 s-scores and dip triggers checked. Orders only from frozen rules; every fill logged.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2929" y="3950208"/>
            <a:ext cx="2722168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0945" y="407822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WEEKLY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0945" y="4370832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Calibri"/>
              </a:rPr>
              <a:t>IDX coal and nickel baskets rebalanced; gate status logged. The wheel rolls the next 25-delta BTC contracts.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2939" y="3950208"/>
            <a:ext cx="2722168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0955" y="407822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QUARTERLY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0955" y="4370832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Calibri"/>
              </a:rPr>
              <a:t>Book rebalanced back to 40 / 20 / 25 / 15. The weights are not negotiable in between.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2948" y="3950208"/>
            <a:ext cx="2722168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0964" y="407822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FRIDAY CLOSE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964" y="4370832"/>
            <a:ext cx="24688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Calibri"/>
              </a:rPr>
              <a:t>Tear sheet per sleeve and for the book, in the brief's metrics, trade counts beside every ratio.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77256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The brake, as a gauge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495544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−8.1% backtest max (unbraked) 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715000"/>
            <a:ext cx="5591556" cy="274320"/>
          </a:xfrm>
          <a:prstGeom prst="rect">
            <a:avLst/>
          </a:prstGeom>
          <a:solidFill>
            <a:srgbClr val="D5E8D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765292"/>
            <a:ext cx="540867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Calibri"/>
              </a:rPr>
              <a:t>0% to −5% · full gross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4476" y="5715000"/>
            <a:ext cx="3354933" cy="274320"/>
          </a:xfrm>
          <a:prstGeom prst="rect">
            <a:avLst/>
          </a:prstGeom>
          <a:solidFill>
            <a:srgbClr val="FBE7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5916" y="5765292"/>
            <a:ext cx="317205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Calibri"/>
              </a:rPr>
              <a:t>−5% · halve gross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49409" y="5715000"/>
            <a:ext cx="2236622" cy="274320"/>
          </a:xfrm>
          <a:prstGeom prst="rect">
            <a:avLst/>
          </a:prstGeom>
          <a:solidFill>
            <a:srgbClr val="F5D5D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40849" y="5765292"/>
            <a:ext cx="205374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050" b="1">
                <a:solidFill>
                  <a:srgbClr val="262626"/>
                </a:solidFill>
                <a:latin typeface="Calibri"/>
              </a:rPr>
              <a:t>−8% · stop and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63462" y="5632704"/>
            <a:ext cx="25603" cy="365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6016752"/>
            <a:ext cx="11185855" cy="530352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00" b="1">
                <a:solidFill>
                  <a:srgbClr val="262626"/>
                </a:solidFill>
                <a:latin typeface="Calibri"/>
              </a:rPr>
              <a:t>The window grades discipline, not luck:</a:t>
            </a:r>
            <a:r>
              <a:rPr sz="1300" b="0">
                <a:solidFill>
                  <a:srgbClr val="262626"/>
                </a:solidFill>
                <a:latin typeface="Calibri"/>
              </a:rPr>
              <a:t> frozen rules, Friday tear sheets, and a brake whose −5% line the book crossed in the week ending 16 Oct.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HONESTY ·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Limitations, stated plainly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18320" y="182880"/>
            <a:ext cx="2267712" cy="347472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1F3864"/>
                </a:solidFill>
                <a:latin typeface="Calibri"/>
              </a:rPr>
              <a:t>SPEAKER 5 · VICTORIA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3949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>
                <a:solidFill>
                  <a:srgbClr val="262626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Wheel:</a:t>
            </a:r>
            <a:r>
              <a:rPr sz="1250" b="0">
                <a:solidFill>
                  <a:srgbClr val="262626"/>
                </a:solidFill>
                <a:latin typeface="Calibri"/>
              </a:rPr>
              <a:t> no option quotes were used. Premiums are Black–Scholes at one flat vol (Deribit's 30-day DVOL) on 1-week 25-delta options: no skew, no bid–ask, no term structure, less a 5% haircut. The $476K premium and the A8 vol gap are model outputs that likely flatter calm markets. Venue and assignment mechanics simplified.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>
                <a:solidFill>
                  <a:srgbClr val="262626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E1:</a:t>
            </a:r>
            <a:r>
              <a:rPr sz="1250" b="0">
                <a:solidFill>
                  <a:srgbClr val="262626"/>
                </a:solidFill>
                <a:latin typeface="Calibri"/>
              </a:rPr>
              <a:t> the 34-name universe (9 SGX, 25 US) is today's large-cap list applied backwards; decay documented, not explained away; SGX borrow assumed at modelled cost.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>
                <a:solidFill>
                  <a:srgbClr val="262626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Dip:</a:t>
            </a:r>
            <a:r>
              <a:rPr sz="1250" b="0">
                <a:solidFill>
                  <a:srgbClr val="262626"/>
                </a:solidFill>
                <a:latin typeface="Calibri"/>
              </a:rPr>
              <a:t> today's Nasdaq-100 applied backwards, so names that fell out after a decline are absent; a buy-the-dip rule is the design most flattered by this, so read its 1.73 Sharpe as an upper bound. Sizing is reconstructed. Idle cash earns nothing in the backtest.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98448"/>
            <a:ext cx="53949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>
                <a:solidFill>
                  <a:srgbClr val="262626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IDX:</a:t>
            </a:r>
            <a:r>
              <a:rPr sz="1250" b="0">
                <a:solidFill>
                  <a:srgbClr val="262626"/>
                </a:solidFill>
                <a:latin typeface="Calibri"/>
              </a:rPr>
              <a:t> baskets are today's known winners (survivorship flatters levels; same-basket comparisons are insulated). The nickel basket held three names until Apr 2023 (NCKL and MBMA listed later), so 2022's +98.7% is a seven-stock result. IDR unhedged; coal and nickel are one cycle, not two.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>
                <a:solidFill>
                  <a:srgbClr val="262626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Book:</a:t>
            </a:r>
            <a:r>
              <a:rPr sz="1250" b="0">
                <a:solidFill>
                  <a:srgbClr val="262626"/>
                </a:solidFill>
                <a:latin typeface="Calibri"/>
              </a:rPr>
              <a:t> the window starts Apr 2021 (BTC options history); no 2008/2020-style crash for the full book, and the live window is weeks long.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95344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Where each sleeve is most exposed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42428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Synthetic / estimated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42428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Costs &amp; frictions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1424" y="42428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Edge decay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4272" y="42428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Tail / regime break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>
                <a:solidFill>
                  <a:srgbClr val="1F3864"/>
                </a:solidFill>
                <a:latin typeface="Calibri"/>
              </a:rPr>
              <a:t>E1 · Mean reversion</a:t>
            </a:r>
          </a:p>
        </p:txBody>
      </p:sp>
      <p:sp>
        <p:nvSpPr>
          <p:cNvPr id="14" name="Oval 13"/>
          <p:cNvSpPr/>
          <p:nvPr/>
        </p:nvSpPr>
        <p:spPr>
          <a:xfrm>
            <a:off x="3337560" y="4590288"/>
            <a:ext cx="219456" cy="219456"/>
          </a:xfrm>
          <a:prstGeom prst="ellipse">
            <a:avLst/>
          </a:prstGeom>
          <a:solidFill>
            <a:srgbClr val="E69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50408" y="4590288"/>
            <a:ext cx="219456" cy="219456"/>
          </a:xfrm>
          <a:prstGeom prst="ellipse">
            <a:avLst/>
          </a:prstGeom>
          <a:solidFill>
            <a:srgbClr val="E69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63256" y="4590288"/>
            <a:ext cx="219456" cy="21945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76103" y="4590288"/>
            <a:ext cx="219456" cy="219456"/>
          </a:xfrm>
          <a:prstGeom prst="ellipse">
            <a:avLst/>
          </a:prstGeom>
          <a:solidFill>
            <a:srgbClr val="A9B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937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>
                <a:solidFill>
                  <a:srgbClr val="5B2D90"/>
                </a:solidFill>
                <a:latin typeface="Calibri"/>
              </a:rPr>
              <a:t>Wheel · BTC options</a:t>
            </a:r>
          </a:p>
        </p:txBody>
      </p:sp>
      <p:sp>
        <p:nvSpPr>
          <p:cNvPr id="19" name="Oval 18"/>
          <p:cNvSpPr/>
          <p:nvPr/>
        </p:nvSpPr>
        <p:spPr>
          <a:xfrm>
            <a:off x="3337560" y="4956048"/>
            <a:ext cx="219456" cy="21945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50408" y="4956048"/>
            <a:ext cx="219456" cy="219456"/>
          </a:xfrm>
          <a:prstGeom prst="ellipse">
            <a:avLst/>
          </a:prstGeom>
          <a:solidFill>
            <a:srgbClr val="E69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63256" y="4956048"/>
            <a:ext cx="219456" cy="219456"/>
          </a:xfrm>
          <a:prstGeom prst="ellipse">
            <a:avLst/>
          </a:prstGeom>
          <a:solidFill>
            <a:srgbClr val="A9B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76103" y="4956048"/>
            <a:ext cx="219456" cy="21945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303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>
                <a:solidFill>
                  <a:srgbClr val="B05A0B"/>
                </a:solidFill>
                <a:latin typeface="Calibri"/>
              </a:rPr>
              <a:t>IDX · Commodities</a:t>
            </a:r>
          </a:p>
        </p:txBody>
      </p:sp>
      <p:sp>
        <p:nvSpPr>
          <p:cNvPr id="24" name="Oval 23"/>
          <p:cNvSpPr/>
          <p:nvPr/>
        </p:nvSpPr>
        <p:spPr>
          <a:xfrm>
            <a:off x="3337560" y="5321807"/>
            <a:ext cx="219456" cy="21945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550408" y="5321807"/>
            <a:ext cx="219456" cy="219456"/>
          </a:xfrm>
          <a:prstGeom prst="ellipse">
            <a:avLst/>
          </a:prstGeom>
          <a:solidFill>
            <a:srgbClr val="E69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63256" y="5321807"/>
            <a:ext cx="219456" cy="219456"/>
          </a:xfrm>
          <a:prstGeom prst="ellipse">
            <a:avLst/>
          </a:prstGeom>
          <a:solidFill>
            <a:srgbClr val="A9B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76103" y="5321807"/>
            <a:ext cx="219456" cy="219456"/>
          </a:xfrm>
          <a:prstGeom prst="ellipse">
            <a:avLst/>
          </a:prstGeom>
          <a:solidFill>
            <a:srgbClr val="E69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>
                <a:solidFill>
                  <a:srgbClr val="445E2E"/>
                </a:solidFill>
                <a:latin typeface="Calibri"/>
              </a:rPr>
              <a:t>Dip · NDX reversal</a:t>
            </a:r>
          </a:p>
        </p:txBody>
      </p:sp>
      <p:sp>
        <p:nvSpPr>
          <p:cNvPr id="29" name="Oval 28"/>
          <p:cNvSpPr/>
          <p:nvPr/>
        </p:nvSpPr>
        <p:spPr>
          <a:xfrm>
            <a:off x="3337560" y="5687568"/>
            <a:ext cx="219456" cy="21945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50408" y="5687568"/>
            <a:ext cx="219456" cy="219456"/>
          </a:xfrm>
          <a:prstGeom prst="ellipse">
            <a:avLst/>
          </a:prstGeom>
          <a:solidFill>
            <a:srgbClr val="A9B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63256" y="5687568"/>
            <a:ext cx="219456" cy="219456"/>
          </a:xfrm>
          <a:prstGeom prst="ellipse">
            <a:avLst/>
          </a:prstGeom>
          <a:solidFill>
            <a:srgbClr val="E69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76103" y="5687568"/>
            <a:ext cx="219456" cy="21945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980176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Severity:  </a:t>
            </a:r>
          </a:p>
        </p:txBody>
      </p:sp>
      <p:sp>
        <p:nvSpPr>
          <p:cNvPr id="34" name="Oval 33"/>
          <p:cNvSpPr/>
          <p:nvPr/>
        </p:nvSpPr>
        <p:spPr>
          <a:xfrm>
            <a:off x="1325880" y="5998464"/>
            <a:ext cx="155448" cy="15544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36192" y="59618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36" name="Oval 35"/>
          <p:cNvSpPr/>
          <p:nvPr/>
        </p:nvSpPr>
        <p:spPr>
          <a:xfrm>
            <a:off x="2377439" y="5998464"/>
            <a:ext cx="155448" cy="155448"/>
          </a:xfrm>
          <a:prstGeom prst="ellipse">
            <a:avLst/>
          </a:prstGeom>
          <a:solidFill>
            <a:srgbClr val="E69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87752" y="59618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Med</a:t>
            </a:r>
          </a:p>
        </p:txBody>
      </p:sp>
      <p:sp>
        <p:nvSpPr>
          <p:cNvPr id="38" name="Oval 37"/>
          <p:cNvSpPr/>
          <p:nvPr/>
        </p:nvSpPr>
        <p:spPr>
          <a:xfrm>
            <a:off x="3429000" y="5998464"/>
            <a:ext cx="155448" cy="155448"/>
          </a:xfrm>
          <a:prstGeom prst="ellipse">
            <a:avLst/>
          </a:prstGeom>
          <a:solidFill>
            <a:srgbClr val="A9B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39311" y="59618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Calibri"/>
              </a:rP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RISK · PRE-COMMITMENT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Kill criteria, pre-committed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18320" y="182880"/>
            <a:ext cx="2267712" cy="347472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>
                <a:solidFill>
                  <a:srgbClr val="1F3864"/>
                </a:solidFill>
                <a:latin typeface="Calibri"/>
              </a:rPr>
              <a:t>SPEAKER 5 · VICTORIA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463040" cy="296926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335024" cy="2969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Sleeve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298448"/>
            <a:ext cx="9720072" cy="296926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9968" y="1298448"/>
            <a:ext cx="9592056" cy="2969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Calibri"/>
              </a:rPr>
              <a:t>Kill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95374"/>
            <a:ext cx="1463040" cy="5252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595374"/>
            <a:ext cx="1335024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>
                <a:solidFill>
                  <a:srgbClr val="262626"/>
                </a:solidFill>
                <a:latin typeface="Calibri"/>
              </a:rPr>
              <a:t>E1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1595374"/>
            <a:ext cx="9720072" cy="5252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9968" y="1595374"/>
            <a:ext cx="9592056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>
                <a:solidFill>
                  <a:srgbClr val="262626"/>
                </a:solidFill>
                <a:latin typeface="Calibri"/>
              </a:rPr>
              <a:t>Stop if live profit per trade is negative after 200 trades, or if the freeze log shows a parameter change.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20646"/>
            <a:ext cx="1463040" cy="296926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120646"/>
            <a:ext cx="1335024" cy="2969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>
                <a:solidFill>
                  <a:srgbClr val="262626"/>
                </a:solidFill>
                <a:latin typeface="Calibri"/>
              </a:rPr>
              <a:t>Wheel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2120646"/>
            <a:ext cx="9720072" cy="296926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29968" y="2120646"/>
            <a:ext cx="9592056" cy="2969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>
                <a:solidFill>
                  <a:srgbClr val="262626"/>
                </a:solidFill>
                <a:latin typeface="Calibri"/>
              </a:rPr>
              <a:t>Stop if cumulative assignment losses exceed the trailing two years of premium collected.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17572"/>
            <a:ext cx="1463040" cy="5252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417572"/>
            <a:ext cx="1335024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>
                <a:solidFill>
                  <a:srgbClr val="262626"/>
                </a:solidFill>
                <a:latin typeface="Calibri"/>
              </a:rPr>
              <a:t>IDX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65960" y="2417572"/>
            <a:ext cx="9720072" cy="5252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29968" y="2417572"/>
            <a:ext cx="9592056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>
                <a:solidFill>
                  <a:srgbClr val="262626"/>
                </a:solidFill>
                <a:latin typeface="Calibri"/>
              </a:rPr>
              <a:t>Stop if the sleeve's live drawdown exceeds −42%, beyond its full-history backtest maximum (−41.8% since 2016; −35.3% on the common window).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942844"/>
            <a:ext cx="1463040" cy="52527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942844"/>
            <a:ext cx="1335024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>
                <a:solidFill>
                  <a:srgbClr val="262626"/>
                </a:solidFill>
                <a:latin typeface="Calibri"/>
              </a:rPr>
              <a:t>Dip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2942844"/>
            <a:ext cx="9720072" cy="52527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29968" y="2942844"/>
            <a:ext cx="9592056" cy="525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>
                <a:solidFill>
                  <a:srgbClr val="262626"/>
                </a:solidFill>
                <a:latin typeface="Calibri"/>
              </a:rPr>
              <a:t>Stop if sleeve drawdown exceeds −13%, beyond its backtest maximum of −11.3% (July 2026, long run and since 2024 alike): the design has no stop loss, so the drawdown limit is the stop.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468116"/>
            <a:ext cx="1463040" cy="2969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468116"/>
            <a:ext cx="1335024" cy="2969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>
                <a:solidFill>
                  <a:srgbClr val="262626"/>
                </a:solidFill>
                <a:latin typeface="Calibri"/>
              </a:rPr>
              <a:t>Book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3468116"/>
            <a:ext cx="9720072" cy="2969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9968" y="3468116"/>
            <a:ext cx="9592056" cy="2969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>
                <a:solidFill>
                  <a:srgbClr val="262626"/>
                </a:solidFill>
                <a:latin typeface="Calibri"/>
              </a:rPr>
              <a:t>The −8% brake is the kill criterion for the combination itself.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9319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The book brake, on one 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297680"/>
            <a:ext cx="4663440" cy="402336"/>
          </a:xfrm>
          <a:prstGeom prst="rect">
            <a:avLst/>
          </a:prstGeom>
          <a:solidFill>
            <a:srgbClr val="D5E8D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62626"/>
                </a:solidFill>
                <a:latin typeface="Calibri"/>
              </a:rPr>
              <a:t>0% to −5%: full gross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6359" y="4297680"/>
            <a:ext cx="2798064" cy="402336"/>
          </a:xfrm>
          <a:prstGeom prst="rect">
            <a:avLst/>
          </a:prstGeom>
          <a:solidFill>
            <a:srgbClr val="FBE7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62626"/>
                </a:solidFill>
                <a:latin typeface="Calibri"/>
              </a:rPr>
              <a:t>−5%: halve gross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64424" y="4297680"/>
            <a:ext cx="3721608" cy="402336"/>
          </a:xfrm>
          <a:prstGeom prst="rect">
            <a:avLst/>
          </a:prstGeom>
          <a:solidFill>
            <a:srgbClr val="F5D5D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62626"/>
                </a:solidFill>
                <a:latin typeface="Calibri"/>
              </a:rPr>
              <a:t>−8%: stop and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28032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Backtest maximum drawdown without the brake: −8.1% (Apr 2021 to Oct 2026). The −8% stop sits just inside it, so a live repeat is cut at the stop, not after 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349240"/>
            <a:ext cx="1118585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Four premia, four market structures, one book: sized by damage, frozen in advance,</a:t>
            </a:r>
          </a:p>
          <a:p>
            <a:pPr algn="ctr">
              <a:lnSpc>
                <a:spcPct val="106000"/>
              </a:lnSpc>
              <a:spcAft>
                <a:spcPts val="7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and reported the way we would want to read it.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What we built, and what would change our minds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1 · Four premia, no single dominant driver.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9344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Pairwise correlations −0.09 to +0.23; the book's equity beta is +0.07; but three sleeves are long risk (slide 3). Diversification here is measured in sample, over 288 weeks.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58568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2 · The book falls less than its parts.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9463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Sharpe 1.54 vs 0.22 to 1.73 for the sleeves; maximum drawdown −8.1%, shallower than every sleeve; +14.1% in 2022. The dip sleeve rivals it, but deploys only ≈13% of capital on average (in cash on about half of days): it cannot be the whole book.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18688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3 · Four designs dropped; the record is public.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29584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Three designs died on their own evidence, and a fourth, the working CTA futures sleeve, was still substituted when the dip strategy verified stronger (A3).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78808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4 · Sized by damage, frozen in advance.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89704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EVT tails set the weights' conscience: the wheel is smallest because its shortfall is largest (A7). The brake is pre-committed (slide 11).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13892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262626"/>
                </a:solidFill>
                <a:latin typeface="Calibri"/>
              </a:rPr>
              <a:t>What would change our minds:</a:t>
            </a:r>
            <a:r>
              <a:rPr sz="1300" b="0">
                <a:solidFill>
                  <a:srgbClr val="262626"/>
                </a:solidFill>
                <a:latin typeface="Calibri"/>
              </a:rPr>
              <a:t> a sleeve breaching its kill rule in the live window. We stop it, and we report that too.</a:t>
            </a:r>
          </a:p>
        </p:txBody>
      </p:sp>
      <p:pic>
        <p:nvPicPr>
          <p:cNvPr id="14" name="Picture 13" descr="chart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71600"/>
            <a:ext cx="4599432" cy="66878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86600" y="2231136"/>
            <a:ext cx="45994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The book: Apr 2021 to Oct 2026, 100 → 221.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615184"/>
            <a:ext cx="4599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THE HOOK, ANSWERED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962656"/>
            <a:ext cx="4599432" cy="420624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305409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Calibri"/>
              </a:rPr>
              <a:t>Crypto winter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054096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  <a:latin typeface="Calibri"/>
              </a:rPr>
              <a:t>Wheel −43% vs −74%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3474720"/>
            <a:ext cx="4599432" cy="420624"/>
          </a:xfrm>
          <a:prstGeom prst="roundRect">
            <a:avLst/>
          </a:prstGeom>
          <a:solidFill>
            <a:srgbClr val="E2E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35661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>
                <a:solidFill>
                  <a:srgbClr val="445E2E"/>
                </a:solidFill>
                <a:latin typeface="Calibri"/>
              </a:rPr>
              <a:t>Rate shock 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5661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  <a:latin typeface="Calibri"/>
              </a:rPr>
              <a:t>Book +14.1%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3986784"/>
            <a:ext cx="4599432" cy="420624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40782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Calibri"/>
              </a:rPr>
              <a:t>Yen unwind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4078224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  <a:latin typeface="Calibri"/>
              </a:rPr>
              <a:t>Book +0.4%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4498848"/>
            <a:ext cx="4599432" cy="420624"/>
          </a:xfrm>
          <a:prstGeom prst="roundRect">
            <a:avLst/>
          </a:prstGeom>
          <a:solidFill>
            <a:srgbClr val="E9D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45902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>
                <a:solidFill>
                  <a:srgbClr val="5B2D90"/>
                </a:solidFill>
                <a:latin typeface="Calibri"/>
              </a:rPr>
              <a:t>Tariff shock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459028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  <a:latin typeface="Calibri"/>
              </a:rPr>
              <a:t>Book +1.1%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5010912"/>
            <a:ext cx="4599432" cy="420624"/>
          </a:xfrm>
          <a:prstGeom prst="roundRect">
            <a:avLst/>
          </a:prstGeom>
          <a:solidFill>
            <a:srgbClr val="FBE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5102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>
                <a:solidFill>
                  <a:srgbClr val="B05A0B"/>
                </a:solidFill>
                <a:latin typeface="Calibri"/>
              </a:rPr>
              <a:t>Gold supercycle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5102352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200" b="1">
                <a:solidFill>
                  <a:srgbClr val="262626"/>
                </a:solidFill>
                <a:latin typeface="Calibri"/>
              </a:rPr>
              <a:t>Indirect only: IDX gold β +0.38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6016752"/>
            <a:ext cx="11185855" cy="530352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00" b="1">
                <a:solidFill>
                  <a:srgbClr val="262626"/>
                </a:solidFill>
                <a:latin typeface="Calibri"/>
              </a:rPr>
              <a:t>The claim of this project is not that we found four edges.</a:t>
            </a:r>
            <a:r>
              <a:rPr sz="1300" b="0">
                <a:solidFill>
                  <a:srgbClr val="262626"/>
                </a:solidFill>
                <a:latin typeface="Calibri"/>
              </a:rPr>
              <a:t> It is that we built a book that can survive being wrong about one of them.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APPENDIX A1 ·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Frozen specification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28016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521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Sleeve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1298448"/>
            <a:ext cx="990295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47088" y="1298448"/>
            <a:ext cx="9774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Specification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1280160" cy="462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72768"/>
            <a:ext cx="1152143" cy="462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262626"/>
                </a:solidFill>
                <a:latin typeface="Calibri"/>
              </a:rPr>
              <a:t>E1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1572768"/>
            <a:ext cx="9902952" cy="462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47088" y="1572768"/>
            <a:ext cx="9774936" cy="462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262626"/>
                </a:solidFill>
                <a:latin typeface="Calibri"/>
              </a:rPr>
              <a:t>3 PCA factors, 60d window, s open ±1.5 / close ∓0.5, stop |s| &gt; 3.5, OU half-life ≤ 30d; 34 names (9 SGX, 25 US); 10 bps on every change in position weight (entries, exits, daily rebalancing).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035047"/>
            <a:ext cx="1280160" cy="462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035047"/>
            <a:ext cx="1152143" cy="462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262626"/>
                </a:solidFill>
                <a:latin typeface="Calibri"/>
              </a:rPr>
              <a:t>Wheel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83080" y="2035047"/>
            <a:ext cx="9902952" cy="46228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47088" y="2035047"/>
            <a:ext cx="9774936" cy="462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262626"/>
                </a:solidFill>
                <a:latin typeface="Calibri"/>
              </a:rPr>
              <a:t>Weekly Fri cycle; 25-delta 1-week options; puts when flat, calls when holding; full cash cover; T-bill on cash; 5% premium haircut; DVOL pricing (30d IV).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97327"/>
            <a:ext cx="1280160" cy="85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497327"/>
            <a:ext cx="1152143" cy="8559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262626"/>
                </a:solidFill>
                <a:latin typeface="Calibri"/>
              </a:rPr>
              <a:t>IDX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2497327"/>
            <a:ext cx="9902952" cy="8559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47088" y="2497327"/>
            <a:ext cx="9774936" cy="8559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262626"/>
                </a:solidFill>
                <a:latin typeface="Calibri"/>
              </a:rPr>
              <a:t>EW baskets, weekly; coal (ADRO, PTBA, ITMG, BYAN), nickel (ANTM, INCO, MDKA, NCKL, MBMA), gold (ANTM, BRMS, PSAB, MDKA, ARCI); sleeve gates: coal on BTU trend, nickel on own 40wk trend, gold on gold 40wk trend + COT Brake B; 25 bps/side; IDR. Book series: ungated coal + nickel growth baskets; gates and the gold basket are design variants (A3).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353307"/>
            <a:ext cx="1280160" cy="65913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353307"/>
            <a:ext cx="1152143" cy="6591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262626"/>
                </a:solidFill>
                <a:latin typeface="Calibri"/>
              </a:rPr>
              <a:t>Dip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83080" y="3353307"/>
            <a:ext cx="9902952" cy="65913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47088" y="3353307"/>
            <a:ext cx="9774936" cy="6591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262626"/>
                </a:solidFill>
                <a:latin typeface="Calibri"/>
              </a:rPr>
              <a:t>Nasdaq-100 (101 current constituents); close &gt; 200d SMA; signal: 1-day drop &gt; 3% and ATR(5)/close &gt; 3%; next-day limit at signal close − 0.9×ATR(5); rank ATR(5)/close desc; max 10 positions; size = prior-close equity / 10 (reconstructed); exits: +0.5×ATR target, close &gt; prior day high, or day 11; no stop; IBKR tiered commissions.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012437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012437"/>
            <a:ext cx="115214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262626"/>
                </a:solidFill>
                <a:latin typeface="Calibri"/>
              </a:rPr>
              <a:t>Book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83080" y="4012437"/>
            <a:ext cx="99029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47088" y="4012437"/>
            <a:ext cx="9774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>
                <a:solidFill>
                  <a:srgbClr val="262626"/>
                </a:solidFill>
                <a:latin typeface="Calibri"/>
              </a:rPr>
              <a:t>40/20/25/15, quarterly rebalance; brake at −5% (halve) and −8% (stop) book drawdown.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434840"/>
            <a:ext cx="3502152" cy="713232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/>
          <a:lstStyle/>
          <a:p>
            <a:pPr algn="ctr"/>
            <a:r>
              <a:rPr sz="1250" b="1">
                <a:solidFill>
                  <a:srgbClr val="1F3864"/>
                </a:solidFill>
                <a:latin typeface="Calibri"/>
              </a:rPr>
              <a:t>FROZEN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Final specification, fixed Oct 2026; two changes logged (slide 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5072" y="4590288"/>
            <a:ext cx="3383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4434840"/>
            <a:ext cx="3502152" cy="713232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/>
          <a:lstStyle/>
          <a:p>
            <a:pPr algn="ctr"/>
            <a:r>
              <a:rPr sz="1250" b="1">
                <a:solidFill>
                  <a:srgbClr val="1F3864"/>
                </a:solidFill>
                <a:latin typeface="Calibri"/>
              </a:rPr>
              <a:t>LIVE WINDOW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Oct 2026; final tear sheet at the 30 Oct close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4590288"/>
            <a:ext cx="3383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80" y="4434840"/>
            <a:ext cx="3502152" cy="713232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/>
          <a:lstStyle/>
          <a:p>
            <a:pPr algn="ctr"/>
            <a:r>
              <a:rPr sz="1250" b="1">
                <a:solidFill>
                  <a:srgbClr val="1F3864"/>
                </a:solidFill>
                <a:latin typeface="Calibri"/>
              </a:rPr>
              <a:t>NO SILENT CHANGES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Any change enters the freeze log, with reasons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APPENDIX A2 ·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Robustness (common window, weekly)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914400" cy="281178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78638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371600"/>
            <a:ext cx="960120" cy="281178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1371600"/>
            <a:ext cx="83210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FFFFFF"/>
                </a:solidFill>
                <a:latin typeface="Calibri"/>
              </a:rPr>
              <a:t>Sharpe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371600"/>
            <a:ext cx="1691640" cy="281178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1448" y="1371600"/>
            <a:ext cx="15636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FFFFFF"/>
                </a:solidFill>
                <a:latin typeface="Calibri"/>
              </a:rPr>
              <a:t>Newey–West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371600"/>
            <a:ext cx="1828800" cy="281178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3088" y="1371600"/>
            <a:ext cx="170078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FFFFFF"/>
                </a:solidFill>
                <a:latin typeface="Calibri"/>
              </a:rPr>
              <a:t>Drop-best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52778"/>
            <a:ext cx="91440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652778"/>
            <a:ext cx="78638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E1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" y="1652778"/>
            <a:ext cx="96012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81328" y="1652778"/>
            <a:ext cx="83210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0.22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1652778"/>
            <a:ext cx="169164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41448" y="1652778"/>
            <a:ext cx="15636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1652778"/>
            <a:ext cx="182880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33088" y="1652778"/>
            <a:ext cx="170078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933956"/>
            <a:ext cx="91440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1933956"/>
            <a:ext cx="78638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DIP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1933956"/>
            <a:ext cx="96012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81328" y="1933956"/>
            <a:ext cx="83210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1.73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1933956"/>
            <a:ext cx="169164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41448" y="1933956"/>
            <a:ext cx="15636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1.81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69080" y="1933956"/>
            <a:ext cx="182880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33088" y="1933956"/>
            <a:ext cx="170078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1.73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215134"/>
            <a:ext cx="91440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2215134"/>
            <a:ext cx="78638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IDX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17320" y="2215134"/>
            <a:ext cx="96012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81328" y="2215134"/>
            <a:ext cx="83210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1.04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0" y="2215134"/>
            <a:ext cx="169164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41448" y="2215134"/>
            <a:ext cx="15636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0.98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9080" y="2215134"/>
            <a:ext cx="182880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33088" y="2215134"/>
            <a:ext cx="170078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0.98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2496312"/>
            <a:ext cx="91440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2496312"/>
            <a:ext cx="78638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Wheel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17320" y="2496312"/>
            <a:ext cx="96012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81328" y="2496312"/>
            <a:ext cx="83210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0.65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2496312"/>
            <a:ext cx="169164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41448" y="2496312"/>
            <a:ext cx="15636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0.69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69080" y="2496312"/>
            <a:ext cx="182880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33088" y="2496312"/>
            <a:ext cx="170078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0.59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2777490"/>
            <a:ext cx="91440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2777490"/>
            <a:ext cx="78638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262626"/>
                </a:solidFill>
                <a:latin typeface="Calibri"/>
              </a:rPr>
              <a:t>BOOK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17320" y="2777490"/>
            <a:ext cx="96012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81328" y="2777490"/>
            <a:ext cx="83210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262626"/>
                </a:solidFill>
                <a:latin typeface="Calibri"/>
              </a:rPr>
              <a:t>1.54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2777490"/>
            <a:ext cx="169164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41448" y="2777490"/>
            <a:ext cx="15636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262626"/>
                </a:solidFill>
                <a:latin typeface="Calibri"/>
              </a:rPr>
              <a:t>1.75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69080" y="2777490"/>
            <a:ext cx="182880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33088" y="2777490"/>
            <a:ext cx="170078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262626"/>
                </a:solidFill>
                <a:latin typeface="Calibri"/>
              </a:rPr>
              <a:t>1.48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3058668"/>
            <a:ext cx="91440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3058668"/>
            <a:ext cx="78638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SPX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17320" y="3058668"/>
            <a:ext cx="96012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81328" y="3058668"/>
            <a:ext cx="83210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0.84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77440" y="3058668"/>
            <a:ext cx="169164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41448" y="3058668"/>
            <a:ext cx="15636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0.98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69080" y="3058668"/>
            <a:ext cx="182880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33088" y="3058668"/>
            <a:ext cx="170078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0.78</a:t>
            </a:r>
          </a:p>
        </p:txBody>
      </p:sp>
      <p:pic>
        <p:nvPicPr>
          <p:cNvPr id="61" name="Picture 60" descr="chart_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5330952" cy="258218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02920" y="4160520"/>
            <a:ext cx="1118585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No sleeve, and not the book, depends on its single best week. Newey–West Sharpe is above raw Sharpe for every row except IDX, consistent with mild negative weekly autocorrelation in the others.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Parameter sensitivity: E1 Sharpe peaks at the frozen 3 factors (0.43/0.67/0.48/0.26 for 2/3/4/5 factors), so the frozen spec is the in-sample best on that axis. s-entry 1.75 gives 0.99 against the frozen 1.5 (drawdown −14.8% vs −9.1%); it was measured and deliberately not taken.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APPENDIX A3 · REJECTION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What we tested and killed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246888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234086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Candidate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1298448"/>
            <a:ext cx="8714232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5808" y="1298448"/>
            <a:ext cx="858621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2468880" cy="682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72768"/>
            <a:ext cx="2340864" cy="682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262626"/>
                </a:solidFill>
                <a:latin typeface="Calibri"/>
              </a:rPr>
              <a:t>CTA futures trend (built, then substituted)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572768"/>
            <a:ext cx="8714232" cy="682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572768"/>
            <a:ext cx="8586215" cy="682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262626"/>
                </a:solidFill>
                <a:latin typeface="Calibri"/>
              </a:rPr>
              <a:t>Verified as designed (Sharpe 0.34; 2022 +17.4%), then replaced as Sleeve 4 by the dip strategy on the group's direction, for its stronger verified record (1.07 long run, 1.70 since 2024). Cost: the book no longer shorts bonds or the dollar.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55520"/>
            <a:ext cx="246888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255520"/>
            <a:ext cx="234086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262626"/>
                </a:solidFill>
                <a:latin typeface="Calibri"/>
              </a:rPr>
              <a:t>BTC regime wheel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2255520"/>
            <a:ext cx="8714232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808" y="2255520"/>
            <a:ext cx="858621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262626"/>
                </a:solidFill>
                <a:latin typeface="Calibri"/>
              </a:rPr>
              <a:t>Sharpe 0.48 vs 0.65 always-on; 2022 −60.7% vs −32.0%. Replaced by the plain wheel.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29840"/>
            <a:ext cx="2468880" cy="4780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529840"/>
            <a:ext cx="2340864" cy="478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262626"/>
                </a:solidFill>
                <a:latin typeface="Calibri"/>
              </a:rPr>
              <a:t>COT Brake A (gold)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2529840"/>
            <a:ext cx="8714232" cy="4780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35808" y="2529840"/>
            <a:ext cx="8586215" cy="478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262626"/>
                </a:solidFill>
                <a:latin typeface="Calibri"/>
              </a:rPr>
              <a:t>Exit at 90th positioning percentile: Sharpe 0.54 vs 0.56 (gold), 0.67 vs 0.81 (miners); out of the market 32% of weeks. Brake B (percentile + momentum) adopted instead.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07868"/>
            <a:ext cx="2468880" cy="47802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007868"/>
            <a:ext cx="2340864" cy="478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262626"/>
                </a:solidFill>
                <a:latin typeface="Calibri"/>
              </a:rPr>
              <a:t>CPO basket (IDX)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3007868"/>
            <a:ext cx="8714232" cy="47802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5808" y="3007868"/>
            <a:ext cx="8586215" cy="4780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262626"/>
                </a:solidFill>
                <a:latin typeface="Calibri"/>
              </a:rPr>
              <a:t>Sharpe 0.24 to 0.40 in every variant, drawdowns −53% to −68%. Dropped; gold miners took the third-basket slot.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485896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485896"/>
            <a:ext cx="234086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262626"/>
                </a:solidFill>
                <a:latin typeface="Calibri"/>
              </a:rPr>
              <a:t>Pairs trading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1800" y="3485896"/>
            <a:ext cx="871423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35808" y="3485896"/>
            <a:ext cx="858621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262626"/>
                </a:solidFill>
                <a:latin typeface="Calibri"/>
              </a:rPr>
              <a:t>Set aside by the group as a well-trodden design before testing; the PCA engine generalises it.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956048"/>
            <a:ext cx="2673019" cy="73152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5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Entries in this 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40531" y="4956048"/>
            <a:ext cx="2673019" cy="73152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4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Killed or substituted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8143" y="4956048"/>
            <a:ext cx="2673019" cy="73152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1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Set aside untested (pairs)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15755" y="4956048"/>
            <a:ext cx="2673019" cy="73152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bIns="0"/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0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Killed designs still in the 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APPENDIX A4 · DATA &amp; PROTOCOLS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Data and anti-look-ahead protocols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50" b="1">
                <a:solidFill>
                  <a:srgbClr val="262626"/>
                </a:solidFill>
                <a:latin typeface="Calibri"/>
              </a:rPr>
              <a:t>Sources.</a:t>
            </a:r>
            <a:r>
              <a:rPr sz="1450" b="0">
                <a:solidFill>
                  <a:srgbClr val="262626"/>
                </a:solidFill>
                <a:latin typeface="Calibri"/>
              </a:rPr>
              <a:t> Prices: Yahoo Finance (equities, futures, BTC). Options: Deribit DVOL volatility index (daily, Mar 2021 onwards), options priced by Black–Scholes at 25 delta. Positioning: CFTC Commitments of Traders, COMEX gold, legacy noncommercial net as % of open interest. Rates: 13-week T-bill (^IRX).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298448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50" b="1">
                <a:solidFill>
                  <a:srgbClr val="262626"/>
                </a:solidFill>
                <a:latin typeface="Calibri"/>
              </a:rPr>
              <a:t>Anti-look-ahead protocols.</a:t>
            </a:r>
            <a:r>
              <a:rPr sz="1450" b="0">
                <a:solidFill>
                  <a:srgbClr val="262626"/>
                </a:solidFill>
                <a:latin typeface="Calibri"/>
              </a:rPr>
              <a:t> COT: a Tuesday report is used only at Friday evaluations at least 7 days later (it is published Friday, after the IDX close). All signals are computed on data dated on or before the decision close; execution is at the next session or the same close as stated per sleeve. Point-in-time caveat: IDX baskets and the E1 universe are today's constituents; the limitation is disclosed on slide 10, not buried 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434840"/>
            <a:ext cx="3502152" cy="86868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/>
          <a:lstStyle/>
          <a:p>
            <a:pPr algn="ctr"/>
            <a:r>
              <a:rPr sz="1250" b="1">
                <a:solidFill>
                  <a:srgbClr val="1F3864"/>
                </a:solidFill>
                <a:latin typeface="Calibri"/>
              </a:rPr>
              <a:t>SOURCES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Yahoo prices · Deribit DVOL · CFTC COT · T-bill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5072" y="4709160"/>
            <a:ext cx="3383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434840"/>
            <a:ext cx="3502152" cy="86868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/>
          <a:lstStyle/>
          <a:p>
            <a:pPr algn="ctr"/>
            <a:r>
              <a:rPr sz="1250" b="1">
                <a:solidFill>
                  <a:srgbClr val="1F3864"/>
                </a:solidFill>
                <a:latin typeface="Calibri"/>
              </a:rPr>
              <a:t>PROTOCOLS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COT lagged 7+ days · signals on or before the decision close · costs per sleeve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4709160"/>
            <a:ext cx="3383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434840"/>
            <a:ext cx="3502152" cy="86868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/>
          <a:lstStyle/>
          <a:p>
            <a:pPr algn="ctr"/>
            <a:r>
              <a:rPr sz="1250" b="1">
                <a:solidFill>
                  <a:srgbClr val="1F3864"/>
                </a:solidFill>
                <a:latin typeface="Calibri"/>
              </a:rPr>
              <a:t>OUTPUT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Calibri"/>
              </a:rPr>
              <a:t>Friday tear sheet: the brief's nine metrics, per sleeve and for the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APPENDIX A5 ·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Why these weights (sensitivity)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Weights were set by design and frozen for the live window; the study validates the choice rather than fitting it. Anchor: risk parity on measured sleeve vols (E1 8.2%, Dip 11.3%, IDX 25.5%, Wheel 32.4%) gives ≈44/31/14/11, adjusted for E1's alpha decay, the dip sleeve’s long-only equity exposure, and the wheel’s short-vol 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94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1">
                <a:solidFill>
                  <a:srgbClr val="1F3864"/>
                </a:solidFill>
                <a:latin typeface="Calibri"/>
              </a:rPr>
              <a:t>E1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231136"/>
            <a:ext cx="566928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22494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1">
                <a:solidFill>
                  <a:srgbClr val="262626"/>
                </a:solidFill>
                <a:latin typeface="Calibri"/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1518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1">
                <a:solidFill>
                  <a:srgbClr val="B05A0B"/>
                </a:solidFill>
                <a:latin typeface="Calibri"/>
              </a:rPr>
              <a:t>IDX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596896"/>
            <a:ext cx="3543300" cy="274320"/>
          </a:xfrm>
          <a:prstGeom prst="rect">
            <a:avLst/>
          </a:prstGeom>
          <a:solidFill>
            <a:srgbClr val="B05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9260" y="26151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1">
                <a:solidFill>
                  <a:srgbClr val="262626"/>
                </a:solidFill>
                <a:latin typeface="Calibri"/>
              </a:rP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8094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1">
                <a:solidFill>
                  <a:srgbClr val="445E2E"/>
                </a:solidFill>
                <a:latin typeface="Calibri"/>
              </a:rPr>
              <a:t>Dip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962656"/>
            <a:ext cx="2834640" cy="274320"/>
          </a:xfrm>
          <a:prstGeom prst="rect">
            <a:avLst/>
          </a:prstGeom>
          <a:solidFill>
            <a:srgbClr val="445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98094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1">
                <a:solidFill>
                  <a:srgbClr val="262626"/>
                </a:solidFill>
                <a:latin typeface="Calibri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467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1">
                <a:solidFill>
                  <a:srgbClr val="5B2D90"/>
                </a:solidFill>
                <a:latin typeface="Calibri"/>
              </a:rPr>
              <a:t>Wheel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328416"/>
            <a:ext cx="2125980" cy="274320"/>
          </a:xfrm>
          <a:prstGeom prst="rect">
            <a:avLst/>
          </a:prstGeom>
          <a:solidFill>
            <a:srgbClr val="5B2D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91940" y="334670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1">
                <a:solidFill>
                  <a:srgbClr val="262626"/>
                </a:solidFill>
                <a:latin typeface="Calibri"/>
              </a:rPr>
              <a:t>15%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3822191"/>
            <a:ext cx="2651760" cy="28905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1368" y="3822191"/>
            <a:ext cx="252374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Weights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822191"/>
            <a:ext cx="1188720" cy="28905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3822191"/>
            <a:ext cx="106070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Sharpe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3822191"/>
            <a:ext cx="1188720" cy="28905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41848" y="3822191"/>
            <a:ext cx="106070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CAGR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59" y="3822191"/>
            <a:ext cx="1097280" cy="28905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568" y="3822191"/>
            <a:ext cx="96926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Vol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3822191"/>
            <a:ext cx="1280160" cy="28905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7848" y="3822191"/>
            <a:ext cx="1152143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Max DD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3822191"/>
            <a:ext cx="1280160" cy="28905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08008" y="3822191"/>
            <a:ext cx="1152143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2022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37360" y="4111243"/>
            <a:ext cx="2651760" cy="28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01368" y="4111243"/>
            <a:ext cx="252374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62626"/>
                </a:solidFill>
                <a:latin typeface="Calibri"/>
              </a:rPr>
              <a:t>Chosen 40/20/25/15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4111243"/>
            <a:ext cx="1188720" cy="28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3128" y="4111243"/>
            <a:ext cx="106070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262626"/>
                </a:solidFill>
                <a:latin typeface="Calibri"/>
              </a:rPr>
              <a:t>1.54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4111243"/>
            <a:ext cx="1188720" cy="28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41848" y="4111243"/>
            <a:ext cx="106070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262626"/>
                </a:solidFill>
                <a:latin typeface="Calibri"/>
              </a:rPr>
              <a:t>15.4%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59" y="4111243"/>
            <a:ext cx="1097280" cy="28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30568" y="4111243"/>
            <a:ext cx="96926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262626"/>
                </a:solidFill>
                <a:latin typeface="Calibri"/>
              </a:rPr>
              <a:t>9.6%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4111243"/>
            <a:ext cx="1280160" cy="28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27848" y="4111243"/>
            <a:ext cx="1152143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262626"/>
                </a:solidFill>
                <a:latin typeface="Calibri"/>
              </a:rPr>
              <a:t>−8.1%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111243"/>
            <a:ext cx="1280160" cy="28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08008" y="4111243"/>
            <a:ext cx="1152143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262626"/>
                </a:solidFill>
                <a:latin typeface="Calibri"/>
              </a:rPr>
              <a:t>+14.1%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37360" y="4400295"/>
            <a:ext cx="2651760" cy="28905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01368" y="4400295"/>
            <a:ext cx="252374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>
                <a:solidFill>
                  <a:srgbClr val="262626"/>
                </a:solidFill>
                <a:latin typeface="Calibri"/>
              </a:rPr>
              <a:t>Risk parity ≈44/31/14/11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4400295"/>
            <a:ext cx="1188720" cy="28905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53128" y="4400295"/>
            <a:ext cx="106070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>
                <a:solidFill>
                  <a:srgbClr val="262626"/>
                </a:solidFill>
                <a:latin typeface="Calibri"/>
              </a:rPr>
              <a:t>1.78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4400295"/>
            <a:ext cx="1188720" cy="28905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41848" y="4400295"/>
            <a:ext cx="106070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>
                <a:solidFill>
                  <a:srgbClr val="262626"/>
                </a:solidFill>
                <a:latin typeface="Calibri"/>
              </a:rPr>
              <a:t>13.8%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66559" y="4400295"/>
            <a:ext cx="1097280" cy="28905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30568" y="4400295"/>
            <a:ext cx="96926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>
                <a:solidFill>
                  <a:srgbClr val="262626"/>
                </a:solidFill>
                <a:latin typeface="Calibri"/>
              </a:rPr>
              <a:t>7.4%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63840" y="4400295"/>
            <a:ext cx="1280160" cy="28905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27848" y="4400295"/>
            <a:ext cx="1152143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>
                <a:solidFill>
                  <a:srgbClr val="262626"/>
                </a:solidFill>
                <a:latin typeface="Calibri"/>
              </a:rPr>
              <a:t>−4.9%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0" y="4400295"/>
            <a:ext cx="1280160" cy="28905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08008" y="4400295"/>
            <a:ext cx="1152143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>
                <a:solidFill>
                  <a:srgbClr val="262626"/>
                </a:solidFill>
                <a:latin typeface="Calibri"/>
              </a:rPr>
              <a:t>+6.2%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37360" y="4689347"/>
            <a:ext cx="2651760" cy="28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01368" y="4689347"/>
            <a:ext cx="252374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>
                <a:solidFill>
                  <a:srgbClr val="262626"/>
                </a:solidFill>
                <a:latin typeface="Calibri"/>
              </a:rPr>
              <a:t>Equal weight 25 each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4689347"/>
            <a:ext cx="1188720" cy="28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53128" y="4689347"/>
            <a:ext cx="106070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>
                <a:solidFill>
                  <a:srgbClr val="262626"/>
                </a:solidFill>
                <a:latin typeface="Calibri"/>
              </a:rPr>
              <a:t>1.48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77840" y="4689347"/>
            <a:ext cx="1188720" cy="28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41848" y="4689347"/>
            <a:ext cx="106070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>
                <a:solidFill>
                  <a:srgbClr val="262626"/>
                </a:solidFill>
                <a:latin typeface="Calibri"/>
              </a:rPr>
              <a:t>18.4%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66559" y="4689347"/>
            <a:ext cx="1097280" cy="28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30568" y="4689347"/>
            <a:ext cx="96926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>
                <a:solidFill>
                  <a:srgbClr val="262626"/>
                </a:solidFill>
                <a:latin typeface="Calibri"/>
              </a:rPr>
              <a:t>12.0%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63840" y="4689347"/>
            <a:ext cx="1280160" cy="28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27848" y="4689347"/>
            <a:ext cx="1152143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>
                <a:solidFill>
                  <a:srgbClr val="262626"/>
                </a:solidFill>
                <a:latin typeface="Calibri"/>
              </a:rPr>
              <a:t>−10.5%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0" y="4689347"/>
            <a:ext cx="1280160" cy="2890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08008" y="4689347"/>
            <a:ext cx="1152143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>
                <a:solidFill>
                  <a:srgbClr val="262626"/>
                </a:solidFill>
                <a:latin typeface="Calibri"/>
              </a:rPr>
              <a:t>+10.8%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37360" y="4978399"/>
            <a:ext cx="2651760" cy="28905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801368" y="4978399"/>
            <a:ext cx="252374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>
                <a:solidFill>
                  <a:srgbClr val="262626"/>
                </a:solidFill>
                <a:latin typeface="Calibri"/>
              </a:rPr>
              <a:t>E1-heavy 50/15/20/15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89120" y="4978399"/>
            <a:ext cx="1188720" cy="28905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53128" y="4978399"/>
            <a:ext cx="106070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>
                <a:solidFill>
                  <a:srgbClr val="262626"/>
                </a:solidFill>
                <a:latin typeface="Calibri"/>
              </a:rPr>
              <a:t>1.42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77840" y="4978399"/>
            <a:ext cx="1188720" cy="28905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41848" y="4978399"/>
            <a:ext cx="106070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>
                <a:solidFill>
                  <a:srgbClr val="262626"/>
                </a:solidFill>
                <a:latin typeface="Calibri"/>
              </a:rPr>
              <a:t>13.0%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766559" y="4978399"/>
            <a:ext cx="1097280" cy="28905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830568" y="4978399"/>
            <a:ext cx="969264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>
                <a:solidFill>
                  <a:srgbClr val="262626"/>
                </a:solidFill>
                <a:latin typeface="Calibri"/>
              </a:rPr>
              <a:t>8.9%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63840" y="4978399"/>
            <a:ext cx="1280160" cy="28905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27848" y="4978399"/>
            <a:ext cx="1152143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>
                <a:solidFill>
                  <a:srgbClr val="262626"/>
                </a:solidFill>
                <a:latin typeface="Calibri"/>
              </a:rPr>
              <a:t>−7.4%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44000" y="4978399"/>
            <a:ext cx="1280160" cy="289052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08008" y="4978399"/>
            <a:ext cx="1152143" cy="289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>
                <a:solidFill>
                  <a:srgbClr val="262626"/>
                </a:solidFill>
                <a:latin typeface="Calibri"/>
              </a:rPr>
              <a:t>+9.8%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5504688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The optimum is no longer flat: parity reaches 1.78 by loading the low-volatility dip sleeve to 31%. The chosen weights accept 1.54 in exchange for the best crisis year (+14.1% in 2022 vs parity’s +6.2%) and less riding on two equity sleeves. Either is defensible; the trade-off is disclosed, not hidden.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APPENDIX A6 · LECTURE: FACTOR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Factor attribution: the premia are different, measurably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8760" y="1417320"/>
            <a:ext cx="2560320" cy="304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72768" y="1417320"/>
            <a:ext cx="243230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Weekly return betas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79" y="1417320"/>
            <a:ext cx="1280160" cy="304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33087" y="14173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Calibri"/>
              </a:rPr>
              <a:t>SPX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1417320"/>
            <a:ext cx="1280160" cy="304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13248" y="14173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Calibri"/>
              </a:rPr>
              <a:t>BTC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417320"/>
            <a:ext cx="1280160" cy="304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8" y="14173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Calibri"/>
              </a:rPr>
              <a:t>Gold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417320"/>
            <a:ext cx="1280160" cy="304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14173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Calibri"/>
              </a:rPr>
              <a:t>Coal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417320"/>
            <a:ext cx="1463040" cy="304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1417320"/>
            <a:ext cx="133502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1722120"/>
            <a:ext cx="256032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72768" y="1722120"/>
            <a:ext cx="243230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E1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79" y="1722120"/>
            <a:ext cx="1280160" cy="304800"/>
          </a:xfrm>
          <a:prstGeom prst="rect">
            <a:avLst/>
          </a:prstGeom>
          <a:solidFill>
            <a:srgbClr val="E4E9F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33087" y="17221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+0.03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1722120"/>
            <a:ext cx="128016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13248" y="17221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−0.00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0" y="1722120"/>
            <a:ext cx="128016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17221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−0.02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1722120"/>
            <a:ext cx="128016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73568" y="17221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−0.01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1722120"/>
            <a:ext cx="146304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3728" y="1722120"/>
            <a:ext cx="133502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0.01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2026920"/>
            <a:ext cx="256032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72768" y="2026920"/>
            <a:ext cx="243230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DIP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69079" y="2026920"/>
            <a:ext cx="1280160" cy="304800"/>
          </a:xfrm>
          <a:prstGeom prst="rect">
            <a:avLst/>
          </a:prstGeom>
          <a:solidFill>
            <a:srgbClr val="C7D3E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33087" y="20269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262626"/>
                </a:solidFill>
                <a:latin typeface="Calibri"/>
              </a:rPr>
              <a:t>+0.16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2026920"/>
            <a:ext cx="128016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13248" y="20269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+0.00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2026920"/>
            <a:ext cx="1280160" cy="304800"/>
          </a:xfrm>
          <a:prstGeom prst="rect">
            <a:avLst/>
          </a:prstGeom>
          <a:solidFill>
            <a:srgbClr val="E4E9F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93408" y="20269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+0.08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09560" y="2026920"/>
            <a:ext cx="128016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20269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+0.00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026920"/>
            <a:ext cx="146304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53728" y="2026920"/>
            <a:ext cx="133502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0.08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08760" y="2331720"/>
            <a:ext cx="256032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72768" y="2331720"/>
            <a:ext cx="243230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IDX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69079" y="2331720"/>
            <a:ext cx="1280160" cy="304800"/>
          </a:xfrm>
          <a:prstGeom prst="rect">
            <a:avLst/>
          </a:prstGeom>
          <a:solidFill>
            <a:srgbClr val="E4E9F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33087" y="23317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+0.03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49240" y="2331720"/>
            <a:ext cx="1280160" cy="304800"/>
          </a:xfrm>
          <a:prstGeom prst="rect">
            <a:avLst/>
          </a:prstGeom>
          <a:solidFill>
            <a:srgbClr val="E4E9F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13248" y="23317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262626"/>
                </a:solidFill>
                <a:latin typeface="Calibri"/>
              </a:rPr>
              <a:t>+0.08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9400" y="2331720"/>
            <a:ext cx="1280160" cy="304800"/>
          </a:xfrm>
          <a:prstGeom prst="rect">
            <a:avLst/>
          </a:prstGeom>
          <a:solidFill>
            <a:srgbClr val="9DB3D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93408" y="23317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262626"/>
                </a:solidFill>
                <a:latin typeface="Calibri"/>
              </a:rPr>
              <a:t>+0.38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09560" y="2331720"/>
            <a:ext cx="1280160" cy="304800"/>
          </a:xfrm>
          <a:prstGeom prst="rect">
            <a:avLst/>
          </a:prstGeom>
          <a:solidFill>
            <a:srgbClr val="E4E9F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23317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262626"/>
                </a:solidFill>
                <a:latin typeface="Calibri"/>
              </a:rPr>
              <a:t>+0.07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9720" y="2331720"/>
            <a:ext cx="146304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53728" y="2331720"/>
            <a:ext cx="133502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0.17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08760" y="2636520"/>
            <a:ext cx="256032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72768" y="2636520"/>
            <a:ext cx="243230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Wheel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69079" y="2636520"/>
            <a:ext cx="1280160" cy="304800"/>
          </a:xfrm>
          <a:prstGeom prst="rect">
            <a:avLst/>
          </a:prstGeom>
          <a:solidFill>
            <a:srgbClr val="C7D3E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33087" y="26365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+0.16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49240" y="2636520"/>
            <a:ext cx="1280160" cy="304800"/>
          </a:xfrm>
          <a:prstGeom prst="rect">
            <a:avLst/>
          </a:prstGeom>
          <a:solidFill>
            <a:srgbClr val="9DB3D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13248" y="26365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262626"/>
                </a:solidFill>
                <a:latin typeface="Calibri"/>
              </a:rPr>
              <a:t>+0.47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29400" y="2636520"/>
            <a:ext cx="128016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93408" y="26365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−0.02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09560" y="2636520"/>
            <a:ext cx="128016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73568" y="26365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+0.02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89720" y="2636520"/>
            <a:ext cx="146304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53728" y="2636520"/>
            <a:ext cx="133502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0.66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08760" y="2941320"/>
            <a:ext cx="256032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72768" y="2941320"/>
            <a:ext cx="243230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62626"/>
                </a:solidFill>
                <a:latin typeface="Calibri"/>
              </a:rPr>
              <a:t>BOOK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69079" y="2941320"/>
            <a:ext cx="1280160" cy="304800"/>
          </a:xfrm>
          <a:prstGeom prst="rect">
            <a:avLst/>
          </a:prstGeom>
          <a:solidFill>
            <a:srgbClr val="E4E9F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33087" y="29413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262626"/>
                </a:solidFill>
                <a:latin typeface="Calibri"/>
              </a:rPr>
              <a:t>+0.07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49240" y="2941320"/>
            <a:ext cx="1280160" cy="304800"/>
          </a:xfrm>
          <a:prstGeom prst="rect">
            <a:avLst/>
          </a:prstGeom>
          <a:solidFill>
            <a:srgbClr val="E4E9F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13248" y="29413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262626"/>
                </a:solidFill>
                <a:latin typeface="Calibri"/>
              </a:rPr>
              <a:t>+0.09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29400" y="2941320"/>
            <a:ext cx="1280160" cy="304800"/>
          </a:xfrm>
          <a:prstGeom prst="rect">
            <a:avLst/>
          </a:prstGeom>
          <a:solidFill>
            <a:srgbClr val="C7D3E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93408" y="29413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262626"/>
                </a:solidFill>
                <a:latin typeface="Calibri"/>
              </a:rPr>
              <a:t>+0.10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09560" y="2941320"/>
            <a:ext cx="128016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73568" y="29413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262626"/>
                </a:solidFill>
                <a:latin typeface="Calibri"/>
              </a:rPr>
              <a:t>+0.02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89720" y="2941320"/>
            <a:ext cx="146304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53728" y="2941320"/>
            <a:ext cx="133502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262626"/>
                </a:solidFill>
                <a:latin typeface="Calibri"/>
              </a:rPr>
              <a:t>0.41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3794760"/>
            <a:ext cx="111858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250" b="0">
                <a:solidFill>
                  <a:srgbClr val="595959"/>
                </a:solidFill>
                <a:latin typeface="Calibri"/>
              </a:rPr>
              <a:t>OLS of each sleeve's weekly returns on S&amp;P 500, BTC, gold and coal futures, common window (Apr 2021 to Oct 2026, n = 288). </a:t>
            </a:r>
            <a:r>
              <a:rPr sz="1250" b="1">
                <a:solidFill>
                  <a:srgbClr val="595959"/>
                </a:solidFill>
                <a:latin typeface="Calibri"/>
              </a:rPr>
              <a:t>Bold: |t| &gt; 2.6.</a:t>
            </a:r>
            <a:r>
              <a:rPr sz="1250" b="0">
                <a:solidFill>
                  <a:srgbClr val="595959"/>
                </a:solidFill>
                <a:latin typeface="Calibri"/>
              </a:rPr>
              <a:t> Cell shading deepens with |β|.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400" b="1">
                <a:solidFill>
                  <a:srgbClr val="262626"/>
                </a:solidFill>
                <a:latin typeface="Calibri"/>
              </a:rPr>
              <a:t>E1 loads on nothing</a:t>
            </a:r>
            <a:r>
              <a:rPr sz="1400" b="0">
                <a:solidFill>
                  <a:srgbClr val="262626"/>
                </a:solidFill>
                <a:latin typeface="Calibri"/>
              </a:rPr>
              <a:t> (R² = 0.01): near-zero measured factor exposure, not neutrality by claim. The </a:t>
            </a:r>
            <a:r>
              <a:rPr sz="1400" b="1">
                <a:solidFill>
                  <a:srgbClr val="262626"/>
                </a:solidFill>
                <a:latin typeface="Calibri"/>
              </a:rPr>
              <a:t>book's equity beta is +0.07</a:t>
            </a:r>
            <a:r>
              <a:rPr sz="1400" b="0">
                <a:solidFill>
                  <a:srgbClr val="262626"/>
                </a:solidFill>
                <a:latin typeface="Calibri"/>
              </a:rPr>
              <a:t>: about +0.03 from the dip sleeve (+0.16 at a 20% weight), +0.02 from the wheel (+0.16 at 15%), the rest from E1 and IDX. The book's largest betas are to gold (+0.10) and BTC (+0.09). IDX loads on gold (+0.38) more than coal (+0.07): its nickel names (ANTM and MDKA are also gold miners) dominated the window.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APPENDIX A7 · LECTURE: RISK &amp; EVT (L7)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Tail risk: one-week 99% VaR and Expected Shortfall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8760" y="1417320"/>
            <a:ext cx="3108960" cy="304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72768" y="1417320"/>
            <a:ext cx="298094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Losses, % of sleeve capital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1417320"/>
            <a:ext cx="1188720" cy="304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14173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Calibri"/>
              </a:rPr>
              <a:t>VaR (hist)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6440" y="1417320"/>
            <a:ext cx="1188720" cy="304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0448" y="14173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Calibri"/>
              </a:rPr>
              <a:t>ES (hist)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59" y="1417320"/>
            <a:ext cx="1188720" cy="304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9168" y="14173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Calibri"/>
              </a:rPr>
              <a:t>VaR (EVT)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417320"/>
            <a:ext cx="1188720" cy="304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4173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Calibri"/>
              </a:rPr>
              <a:t>ES (EVT)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72600" y="1417320"/>
            <a:ext cx="1280160" cy="3048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36608" y="14173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Calibri"/>
              </a:rPr>
              <a:t>Tail 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1722120"/>
            <a:ext cx="310896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72768" y="1722120"/>
            <a:ext cx="298094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E1 (40%)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1722120"/>
            <a:ext cx="118872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17221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2.8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1722120"/>
            <a:ext cx="118872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0448" y="17221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3.8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59" y="1722120"/>
            <a:ext cx="118872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9168" y="17221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3.1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1722120"/>
            <a:ext cx="118872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17221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3.8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1722120"/>
            <a:ext cx="128016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36608" y="17221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−0.03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2026920"/>
            <a:ext cx="310896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72768" y="2026920"/>
            <a:ext cx="298094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DIP (20%)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2026920"/>
            <a:ext cx="118872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20269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4.1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2026920"/>
            <a:ext cx="118872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70448" y="20269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4.6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95159" y="2026920"/>
            <a:ext cx="118872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9168" y="20269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3.6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2026920"/>
            <a:ext cx="118872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47888" y="20269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4.4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72600" y="2026920"/>
            <a:ext cx="128016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36608" y="20269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−0.20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08760" y="2331720"/>
            <a:ext cx="310896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72768" y="2331720"/>
            <a:ext cx="298094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IDX (25%)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17720" y="2331720"/>
            <a:ext cx="118872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1728" y="23317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7.6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06440" y="2331720"/>
            <a:ext cx="118872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70448" y="23317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8.3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95159" y="2331720"/>
            <a:ext cx="118872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59168" y="23317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7.7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83879" y="2331720"/>
            <a:ext cx="118872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47888" y="23317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8.2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72600" y="2331720"/>
            <a:ext cx="128016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36608" y="23317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−0.53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08760" y="2636520"/>
            <a:ext cx="310896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72768" y="2636520"/>
            <a:ext cx="298094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>
                <a:solidFill>
                  <a:srgbClr val="262626"/>
                </a:solidFill>
                <a:latin typeface="Calibri"/>
              </a:rPr>
              <a:t>Wheel (15%)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17720" y="2636520"/>
            <a:ext cx="118872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81728" y="26365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15.9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06440" y="2636520"/>
            <a:ext cx="118872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70448" y="26365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20.8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95159" y="2636520"/>
            <a:ext cx="118872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59168" y="26365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15.9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83879" y="2636520"/>
            <a:ext cx="118872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47888" y="26365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22.0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72600" y="2636520"/>
            <a:ext cx="1280160" cy="30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36608" y="26365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>
                <a:solidFill>
                  <a:srgbClr val="262626"/>
                </a:solidFill>
                <a:latin typeface="Calibri"/>
              </a:rPr>
              <a:t>+0.12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08760" y="2941320"/>
            <a:ext cx="310896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72768" y="2941320"/>
            <a:ext cx="298094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62626"/>
                </a:solidFill>
                <a:latin typeface="Calibri"/>
              </a:rPr>
              <a:t>BOOK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17720" y="2941320"/>
            <a:ext cx="118872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81728" y="29413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262626"/>
                </a:solidFill>
                <a:latin typeface="Calibri"/>
              </a:rPr>
              <a:t>4.5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06440" y="2941320"/>
            <a:ext cx="118872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70448" y="29413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262626"/>
                </a:solidFill>
                <a:latin typeface="Calibri"/>
              </a:rPr>
              <a:t>5.1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95159" y="2941320"/>
            <a:ext cx="118872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59168" y="29413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262626"/>
                </a:solidFill>
                <a:latin typeface="Calibri"/>
              </a:rPr>
              <a:t>3.5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83879" y="2941320"/>
            <a:ext cx="118872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47888" y="2941320"/>
            <a:ext cx="1060704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262626"/>
                </a:solidFill>
                <a:latin typeface="Calibri"/>
              </a:rPr>
              <a:t>5.2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72600" y="2941320"/>
            <a:ext cx="128016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36608" y="2941320"/>
            <a:ext cx="115214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262626"/>
                </a:solidFill>
                <a:latin typeface="Calibri"/>
              </a:rPr>
              <a:t>+0.26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3364992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50" b="0">
                <a:solidFill>
                  <a:srgbClr val="595959"/>
                </a:solidFill>
                <a:latin typeface="Calibri"/>
              </a:rPr>
              <a:t>Historical quantiles on weekly returns plus an EVT peaks-over-threshold fit (GPD, 90% threshold, ≈29 exceedances; ξ is indicative, not precise), common window.</a:t>
            </a:r>
          </a:p>
        </p:txBody>
      </p:sp>
      <p:pic>
        <p:nvPicPr>
          <p:cNvPr id="78" name="Picture 77" descr="chart_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785615"/>
            <a:ext cx="6675120" cy="234531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452360" y="3639312"/>
            <a:ext cx="423367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50" b="0">
                <a:solidFill>
                  <a:srgbClr val="262626"/>
                </a:solidFill>
                <a:latin typeface="Calibri"/>
              </a:rPr>
              <a:t>The </a:t>
            </a:r>
            <a:r>
              <a:rPr sz="1350" b="1">
                <a:solidFill>
                  <a:srgbClr val="262626"/>
                </a:solidFill>
                <a:latin typeface="Calibri"/>
              </a:rPr>
              <a:t>wheel owns the tail</a:t>
            </a:r>
            <a:r>
              <a:rPr sz="1350" b="0">
                <a:solidFill>
                  <a:srgbClr val="262626"/>
                </a:solidFill>
                <a:latin typeface="Calibri"/>
              </a:rPr>
              <a:t>, a 1-week ES of about 21 to 22% of its own capital, and is the smallest sleeve for exactly that reason.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50" b="0">
                <a:solidFill>
                  <a:srgbClr val="262626"/>
                </a:solidFill>
                <a:latin typeface="Calibri"/>
              </a:rPr>
              <a:t>The EVT fit and history now agree on the book (ES ≈ 5.1 to 5.2%): the dip sleeve’s truncated tail (ξ −0.20; its exits cap the holding period, not the loss) thins the book’s tail versus the earlier CTA-futures Sleeve 4 (A3). The −8% brake still sits beyond one very bad week.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APPENDIX A8 · LECTURE: ARCH / GARCH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The wheel's premium, measured: implied vs forecast vs realised 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_g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7589520" cy="23458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417320"/>
            <a:ext cx="3410712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262626"/>
                </a:solidFill>
                <a:latin typeface="Calibri"/>
              </a:rPr>
              <a:t>GARCH(1,1) on BTC daily returns</a:t>
            </a:r>
            <a:r>
              <a:rPr sz="1300" b="0">
                <a:solidFill>
                  <a:srgbClr val="262626"/>
                </a:solidFill>
                <a:latin typeface="Calibri"/>
              </a:rPr>
              <a:t>, fitted Jan 2015 to Dec 2022: α 0.055, β 0.945, persistence ≈ 1.00. Volatility shocks barely decay, which is why a premium seller respects vol regimes.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262626"/>
                </a:solidFill>
                <a:latin typeface="Calibri"/>
              </a:rPr>
              <a:t>Out-of-sample, Jan 2023 to Sep 2026 (means):</a:t>
            </a:r>
            <a:r>
              <a:rPr sz="1300" b="0">
                <a:solidFill>
                  <a:srgbClr val="262626"/>
                </a:solidFill>
                <a:latin typeface="Calibri"/>
              </a:rPr>
              <a:t> DVOL implied 49.7%, GARCH forecast 49.7%, vol that subsequently arrived 44.4%.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0">
                <a:solidFill>
                  <a:srgbClr val="262626"/>
                </a:solidFill>
                <a:latin typeface="Calibri"/>
              </a:rPr>
              <a:t>Implied exceeded subsequent realised vol on </a:t>
            </a:r>
            <a:r>
              <a:rPr sz="1300" b="1">
                <a:solidFill>
                  <a:srgbClr val="262626"/>
                </a:solidFill>
                <a:latin typeface="Calibri"/>
              </a:rPr>
              <a:t>69% of days</a:t>
            </a:r>
            <a:r>
              <a:rPr sz="1300" b="0">
                <a:solidFill>
                  <a:srgbClr val="262626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92040"/>
            <a:ext cx="1118585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50" b="0">
                <a:solidFill>
                  <a:srgbClr val="262626"/>
                </a:solidFill>
                <a:latin typeface="Calibri"/>
              </a:rPr>
              <a:t>Implied and GARCH agree as forecasts; both sit above what volatility delivered. The ≈5-vol-point average gap is the implied-minus-realised vol spread — the premium, quoted in vol points. The wheel sells that gap and nets assignment losses against it in the backtest (Sleeve 2); the chart's 30-day IV input flatters calm-market levels, as disclosed.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Calibri"/>
              </a:rPr>
              <a:t>APPENDIX A9 · LECTURE: COINTEGRATION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Cointegration exhibits: beta without an anchor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1185855" cy="4445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3108960" cy="281178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29809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Pair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80" y="1371600"/>
            <a:ext cx="822960" cy="281178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5888" y="1371600"/>
            <a:ext cx="6949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FFFFFF"/>
                </a:solidFill>
                <a:latin typeface="Calibri"/>
              </a:rPr>
              <a:t>β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1005840" cy="281178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371600"/>
            <a:ext cx="8778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FFFFFF"/>
                </a:solidFill>
                <a:latin typeface="Calibri"/>
              </a:rPr>
              <a:t>EG 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40680" y="1371600"/>
            <a:ext cx="1737360" cy="281178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4688" y="1371600"/>
            <a:ext cx="160934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FFFFFF"/>
                </a:solidFill>
                <a:latin typeface="Calibri"/>
              </a:rPr>
              <a:t>Spread HL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52778"/>
            <a:ext cx="310896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652778"/>
            <a:ext cx="29809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ADRO vs coal (BTU)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1652778"/>
            <a:ext cx="82296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1652778"/>
            <a:ext cx="6949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0.39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1652778"/>
            <a:ext cx="100584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652778"/>
            <a:ext cx="8778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0.95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40680" y="1652778"/>
            <a:ext cx="173736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04688" y="1652778"/>
            <a:ext cx="160934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&gt;500d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933956"/>
            <a:ext cx="310896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1933956"/>
            <a:ext cx="29809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PTBA vs coal (BTU)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1933956"/>
            <a:ext cx="82296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8" y="1933956"/>
            <a:ext cx="6949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1933956"/>
            <a:ext cx="100584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1933956"/>
            <a:ext cx="8778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0.83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40680" y="1933956"/>
            <a:ext cx="173736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04688" y="1933956"/>
            <a:ext cx="160934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312d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215134"/>
            <a:ext cx="310896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2215134"/>
            <a:ext cx="29809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ITMG vs coal (BTU)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11880" y="2215134"/>
            <a:ext cx="82296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75888" y="2215134"/>
            <a:ext cx="6949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0.49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2215134"/>
            <a:ext cx="100584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8848" y="2215134"/>
            <a:ext cx="8778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0.79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40680" y="2215134"/>
            <a:ext cx="173736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04688" y="2215134"/>
            <a:ext cx="160934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325d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2496312"/>
            <a:ext cx="310896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2496312"/>
            <a:ext cx="29809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BYAN vs coal (BTU)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11880" y="2496312"/>
            <a:ext cx="82296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5888" y="2496312"/>
            <a:ext cx="6949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0.55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2496312"/>
            <a:ext cx="100584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98848" y="2496312"/>
            <a:ext cx="8778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0.73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40680" y="2496312"/>
            <a:ext cx="173736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04688" y="2496312"/>
            <a:ext cx="160934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&gt;500d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2777490"/>
            <a:ext cx="310896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2777490"/>
            <a:ext cx="29809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ANTM vs gold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11880" y="2777490"/>
            <a:ext cx="82296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75888" y="2777490"/>
            <a:ext cx="6949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1.40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34840" y="2777490"/>
            <a:ext cx="100584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98848" y="2777490"/>
            <a:ext cx="8778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0.19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40680" y="2777490"/>
            <a:ext cx="1737360" cy="2811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04688" y="2777490"/>
            <a:ext cx="160934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153d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3058668"/>
            <a:ext cx="310896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3058668"/>
            <a:ext cx="29809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>
                <a:solidFill>
                  <a:srgbClr val="262626"/>
                </a:solidFill>
                <a:latin typeface="Calibri"/>
              </a:rPr>
              <a:t>MDKA vs gold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11880" y="3058668"/>
            <a:ext cx="82296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75888" y="3058668"/>
            <a:ext cx="69494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1.47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34840" y="3058668"/>
            <a:ext cx="100584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98848" y="3058668"/>
            <a:ext cx="877824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0.89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40680" y="3058668"/>
            <a:ext cx="1737360" cy="281178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04688" y="3058668"/>
            <a:ext cx="1609343" cy="2811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>
                <a:solidFill>
                  <a:srgbClr val="262626"/>
                </a:solidFill>
                <a:latin typeface="Calibri"/>
              </a:rPr>
              <a:t>497d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3611880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Daily log prices, Jan 2016 to Oct 2026. β from OLS of log miner on log commodity; EG p is the Engle–Granger cointegration p-value; HL is the spread's AR(1) half-life.</a:t>
            </a:r>
          </a:p>
        </p:txBody>
      </p:sp>
      <p:pic>
        <p:nvPicPr>
          <p:cNvPr id="62" name="Picture 61" descr="chart_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87952"/>
            <a:ext cx="6675120" cy="179759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406640" y="1371600"/>
            <a:ext cx="4279392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262626"/>
                </a:solidFill>
                <a:latin typeface="Calibri"/>
              </a:rPr>
              <a:t>Engle–Granger verdict: no pair cointegrates</a:t>
            </a:r>
            <a:r>
              <a:rPr sz="1300" b="0">
                <a:solidFill>
                  <a:srgbClr val="262626"/>
                </a:solidFill>
                <a:latin typeface="Calibri"/>
              </a:rPr>
              <a:t> (all p ≥ 0.19; spread half-lives of 5 months to effectively never). The miners carry commodity *return beta* without a price-level anchor, so Sleeve 3's design research used trend gates, not spreads against the commodity.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262626"/>
                </a:solidFill>
                <a:latin typeface="Calibri"/>
              </a:rPr>
              <a:t>Contrast, Sleeve 1:</a:t>
            </a:r>
            <a:r>
              <a:rPr sz="1300" b="0">
                <a:solidFill>
                  <a:srgbClr val="262626"/>
                </a:solidFill>
                <a:latin typeface="Calibri"/>
              </a:rPr>
              <a:t> ADF rejects a unit root for </a:t>
            </a:r>
            <a:r>
              <a:rPr sz="1300" b="1">
                <a:solidFill>
                  <a:srgbClr val="262626"/>
                </a:solidFill>
                <a:latin typeface="Calibri"/>
              </a:rPr>
              <a:t>all 34</a:t>
            </a:r>
            <a:r>
              <a:rPr sz="1300" b="0">
                <a:solidFill>
                  <a:srgbClr val="262626"/>
                </a:solidFill>
                <a:latin typeface="Calibri"/>
              </a:rPr>
              <a:t> factor-residual series; residual half-lives cluster at 5 to 6 days, inside the engine's 30-day admission filter. That is what a tradeable spread looks like.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300" b="1">
                <a:solidFill>
                  <a:srgbClr val="262626"/>
                </a:solidFill>
                <a:latin typeface="Calibri"/>
              </a:rPr>
              <a:t>Sleeve 4’s filter is the same logic used defensively:</a:t>
            </a:r>
            <a:r>
              <a:rPr sz="1300" b="0">
                <a:solidFill>
                  <a:srgbClr val="262626"/>
                </a:solidFill>
                <a:latin typeface="Calibri"/>
              </a:rPr>
              <a:t> dip entries require a close above the 200-day average, so in 2022 the sleeve returned −1.1% while sitting mostly in cash (average capital use 10%). An uptrend filter is a crude but effective regime gate.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75720" y="65288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700"/>
              </a:spcAft>
            </a:pPr>
            <a:r>
              <a:rPr sz="1000" b="0">
                <a:solidFill>
                  <a:srgbClr val="595959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Quadrant Strategy — Four Market Structures · QF5210 Group Project</dc:title>
  <dc:subject/>
  <dc:creator>QF5210 Group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